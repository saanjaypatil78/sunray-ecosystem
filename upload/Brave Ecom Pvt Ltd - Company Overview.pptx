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3.jpg"/><Relationship Id="rId9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0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12" Type="http://schemas.openxmlformats.org/officeDocument/2006/relationships/image" Target="../media/image19.png"/><Relationship Id="rId17" Type="http://schemas.openxmlformats.org/officeDocument/2006/relationships/image" Target="../media/image24.png"/><Relationship Id="rId2" Type="http://schemas.openxmlformats.org/officeDocument/2006/relationships/image" Target="../media/image1.jpg"/><Relationship Id="rId16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18.png"/><Relationship Id="rId5" Type="http://schemas.openxmlformats.org/officeDocument/2006/relationships/image" Target="../media/image13.png"/><Relationship Id="rId15" Type="http://schemas.openxmlformats.org/officeDocument/2006/relationships/image" Target="../media/image22.png"/><Relationship Id="rId10" Type="http://schemas.openxmlformats.org/officeDocument/2006/relationships/image" Target="../media/image10.png"/><Relationship Id="rId4" Type="http://schemas.openxmlformats.org/officeDocument/2006/relationships/image" Target="../media/image3.jpg"/><Relationship Id="rId9" Type="http://schemas.openxmlformats.org/officeDocument/2006/relationships/image" Target="../media/image17.png"/><Relationship Id="rId14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2.png"/><Relationship Id="rId18" Type="http://schemas.openxmlformats.org/officeDocument/2006/relationships/image" Target="../media/image37.png"/><Relationship Id="rId3" Type="http://schemas.openxmlformats.org/officeDocument/2006/relationships/image" Target="../media/image2.png"/><Relationship Id="rId7" Type="http://schemas.openxmlformats.org/officeDocument/2006/relationships/image" Target="../media/image26.png"/><Relationship Id="rId12" Type="http://schemas.openxmlformats.org/officeDocument/2006/relationships/image" Target="../media/image31.png"/><Relationship Id="rId17" Type="http://schemas.openxmlformats.org/officeDocument/2006/relationships/image" Target="../media/image36.png"/><Relationship Id="rId2" Type="http://schemas.openxmlformats.org/officeDocument/2006/relationships/image" Target="../media/image1.jpg"/><Relationship Id="rId16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11.png"/><Relationship Id="rId15" Type="http://schemas.openxmlformats.org/officeDocument/2006/relationships/image" Target="../media/image34.png"/><Relationship Id="rId10" Type="http://schemas.openxmlformats.org/officeDocument/2006/relationships/image" Target="../media/image29.png"/><Relationship Id="rId4" Type="http://schemas.openxmlformats.org/officeDocument/2006/relationships/image" Target="../media/image3.jpg"/><Relationship Id="rId9" Type="http://schemas.openxmlformats.org/officeDocument/2006/relationships/image" Target="../media/image28.png"/><Relationship Id="rId14" Type="http://schemas.openxmlformats.org/officeDocument/2006/relationships/image" Target="../media/image3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11.png"/><Relationship Id="rId18" Type="http://schemas.openxmlformats.org/officeDocument/2006/relationships/image" Target="../media/image50.png"/><Relationship Id="rId3" Type="http://schemas.openxmlformats.org/officeDocument/2006/relationships/image" Target="../media/image2.png"/><Relationship Id="rId21" Type="http://schemas.openxmlformats.org/officeDocument/2006/relationships/image" Target="../media/image53.png"/><Relationship Id="rId7" Type="http://schemas.openxmlformats.org/officeDocument/2006/relationships/image" Target="../media/image40.png"/><Relationship Id="rId12" Type="http://schemas.openxmlformats.org/officeDocument/2006/relationships/image" Target="../media/image45.png"/><Relationship Id="rId17" Type="http://schemas.openxmlformats.org/officeDocument/2006/relationships/image" Target="../media/image49.png"/><Relationship Id="rId2" Type="http://schemas.openxmlformats.org/officeDocument/2006/relationships/image" Target="../media/image1.jpg"/><Relationship Id="rId16" Type="http://schemas.openxmlformats.org/officeDocument/2006/relationships/image" Target="../media/image48.png"/><Relationship Id="rId20" Type="http://schemas.openxmlformats.org/officeDocument/2006/relationships/image" Target="../media/image5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5" Type="http://schemas.openxmlformats.org/officeDocument/2006/relationships/image" Target="../media/image38.png"/><Relationship Id="rId15" Type="http://schemas.openxmlformats.org/officeDocument/2006/relationships/image" Target="../media/image47.png"/><Relationship Id="rId23" Type="http://schemas.openxmlformats.org/officeDocument/2006/relationships/image" Target="../media/image55.png"/><Relationship Id="rId10" Type="http://schemas.openxmlformats.org/officeDocument/2006/relationships/image" Target="../media/image43.png"/><Relationship Id="rId19" Type="http://schemas.openxmlformats.org/officeDocument/2006/relationships/image" Target="../media/image51.png"/><Relationship Id="rId4" Type="http://schemas.openxmlformats.org/officeDocument/2006/relationships/image" Target="../media/image3.jpg"/><Relationship Id="rId9" Type="http://schemas.openxmlformats.org/officeDocument/2006/relationships/image" Target="../media/image42.png"/><Relationship Id="rId14" Type="http://schemas.openxmlformats.org/officeDocument/2006/relationships/image" Target="../media/image46.png"/><Relationship Id="rId22" Type="http://schemas.openxmlformats.org/officeDocument/2006/relationships/image" Target="../media/image5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62.png"/><Relationship Id="rId3" Type="http://schemas.openxmlformats.org/officeDocument/2006/relationships/image" Target="../media/image2.png"/><Relationship Id="rId7" Type="http://schemas.openxmlformats.org/officeDocument/2006/relationships/image" Target="../media/image57.png"/><Relationship Id="rId12" Type="http://schemas.openxmlformats.org/officeDocument/2006/relationships/image" Target="../media/image61.png"/><Relationship Id="rId17" Type="http://schemas.openxmlformats.org/officeDocument/2006/relationships/image" Target="../media/image66.png"/><Relationship Id="rId2" Type="http://schemas.openxmlformats.org/officeDocument/2006/relationships/image" Target="../media/image1.jpg"/><Relationship Id="rId16" Type="http://schemas.openxmlformats.org/officeDocument/2006/relationships/image" Target="../media/image6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11" Type="http://schemas.openxmlformats.org/officeDocument/2006/relationships/image" Target="../media/image60.png"/><Relationship Id="rId5" Type="http://schemas.openxmlformats.org/officeDocument/2006/relationships/image" Target="../media/image56.png"/><Relationship Id="rId15" Type="http://schemas.openxmlformats.org/officeDocument/2006/relationships/image" Target="../media/image64.png"/><Relationship Id="rId10" Type="http://schemas.openxmlformats.org/officeDocument/2006/relationships/image" Target="../media/image59.png"/><Relationship Id="rId4" Type="http://schemas.openxmlformats.org/officeDocument/2006/relationships/image" Target="../media/image3.jpg"/><Relationship Id="rId9" Type="http://schemas.openxmlformats.org/officeDocument/2006/relationships/image" Target="../media/image58.png"/><Relationship Id="rId14" Type="http://schemas.openxmlformats.org/officeDocument/2006/relationships/image" Target="../media/image6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2.png"/><Relationship Id="rId7" Type="http://schemas.openxmlformats.org/officeDocument/2006/relationships/image" Target="../media/image4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67.png"/><Relationship Id="rId10" Type="http://schemas.openxmlformats.org/officeDocument/2006/relationships/image" Target="../media/image12.png"/><Relationship Id="rId4" Type="http://schemas.openxmlformats.org/officeDocument/2006/relationships/image" Target="../media/image3.jpg"/><Relationship Id="rId9" Type="http://schemas.openxmlformats.org/officeDocument/2006/relationships/image" Target="../media/image6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13" Type="http://schemas.openxmlformats.org/officeDocument/2006/relationships/image" Target="../media/image78.png"/><Relationship Id="rId3" Type="http://schemas.openxmlformats.org/officeDocument/2006/relationships/image" Target="../media/image2.png"/><Relationship Id="rId7" Type="http://schemas.openxmlformats.org/officeDocument/2006/relationships/image" Target="../media/image72.png"/><Relationship Id="rId12" Type="http://schemas.openxmlformats.org/officeDocument/2006/relationships/image" Target="../media/image7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1.png"/><Relationship Id="rId11" Type="http://schemas.openxmlformats.org/officeDocument/2006/relationships/image" Target="../media/image76.png"/><Relationship Id="rId5" Type="http://schemas.openxmlformats.org/officeDocument/2006/relationships/image" Target="../media/image70.png"/><Relationship Id="rId10" Type="http://schemas.openxmlformats.org/officeDocument/2006/relationships/image" Target="../media/image75.png"/><Relationship Id="rId4" Type="http://schemas.openxmlformats.org/officeDocument/2006/relationships/image" Target="../media/image3.jpg"/><Relationship Id="rId9" Type="http://schemas.openxmlformats.org/officeDocument/2006/relationships/image" Target="../media/image7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2121C">
                <a:alpha val="95000"/>
              </a:srgbClr>
            </a:gs>
            <a:gs pos="100000">
              <a:srgbClr val="1A1A26">
                <a:alpha val="90000"/>
              </a:srgbClr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6198" cy="6858000"/>
          </a:xfrm>
          <a:prstGeom prst="rect">
            <a:avLst/>
          </a:prstGeom>
          <a:solidFill>
            <a:srgbClr val="D4A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9753356" y="190499"/>
            <a:ext cx="1771605" cy="380999"/>
          </a:xfrm>
          <a:prstGeom prst="roundRect">
            <a:avLst>
              <a:gd name="adj" fmla="val 100000"/>
            </a:avLst>
          </a:prstGeom>
          <a:solidFill>
            <a:srgbClr val="D4A76A">
              <a:alpha val="20000"/>
            </a:srgbClr>
          </a:solidFill>
          <a:ln w="16510">
            <a:solidFill>
              <a:srgbClr val="D4A7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15277" y="299757"/>
            <a:ext cx="190495" cy="16248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181970" y="285750"/>
            <a:ext cx="1181070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Source Sans Pro"/>
              </a:rPr>
              <a:t>Global Operations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666733" y="1428750"/>
            <a:ext cx="2666933" cy="1457325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6733" y="3305174"/>
            <a:ext cx="6457788" cy="666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4550"/>
              </a:lnSpc>
              <a:spcBef>
                <a:spcPts val="0"/>
              </a:spcBef>
              <a:spcAft>
                <a:spcPts val="1040"/>
              </a:spcAft>
            </a:pPr>
            <a:r>
              <a:rPr sz="3827" b="1">
                <a:solidFill>
                  <a:srgbClr val="FFFFFF"/>
                </a:solidFill>
                <a:latin typeface="Source Sans Pro"/>
              </a:rPr>
              <a:t>BRAVE ECOM PVT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6733" y="4133849"/>
            <a:ext cx="6457788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0"/>
              </a:spcAft>
            </a:pPr>
            <a:r>
              <a:rPr sz="1196" b="0">
                <a:solidFill>
                  <a:srgbClr val="B0B0C0"/>
                </a:solidFill>
                <a:latin typeface="Source Sans Pro"/>
              </a:rPr>
              <a:t>Building a Legally Fortified, Global High-Growth Institution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6733" y="4781549"/>
            <a:ext cx="6457788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0"/>
              </a:spcAft>
            </a:pPr>
            <a:r>
              <a:rPr sz="1196" b="0">
                <a:solidFill>
                  <a:srgbClr val="B0B0C0"/>
                </a:solidFill>
                <a:latin typeface="Source Sans Pro"/>
              </a:rPr>
              <a:t>Tech-Enabled Dropshipping with Blue-Chip Financial Discipline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05512" y="1828800"/>
            <a:ext cx="1895427" cy="1504950"/>
          </a:xfrm>
          <a:prstGeom prst="roundRect">
            <a:avLst>
              <a:gd name="adj" fmla="val 10126"/>
            </a:avLst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6802567" y="2531745"/>
            <a:ext cx="1504950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4A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24581" y="2019299"/>
            <a:ext cx="1485862" cy="43814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076" b="1">
                <a:solidFill>
                  <a:srgbClr val="D4A76A"/>
                </a:solidFill>
                <a:latin typeface="Source Sans Pro"/>
              </a:rPr>
              <a:t> </a:t>
            </a:r>
            <a:r>
              <a:rPr sz="1104"/>
              <a:t>  </a:t>
            </a:r>
            <a:r>
              <a:rPr sz="1076" b="1">
                <a:solidFill>
                  <a:srgbClr val="D4A76A"/>
                </a:solidFill>
                <a:latin typeface="Source Sans Pro"/>
              </a:rPr>
              <a:t> Global Market CAGR 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24581" y="2175622"/>
            <a:ext cx="190495" cy="10645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24581" y="2533649"/>
            <a:ext cx="1485862" cy="3809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13" b="1">
                <a:solidFill>
                  <a:srgbClr val="FFFFFF"/>
                </a:solidFill>
                <a:latin typeface="Source Sans Pro"/>
              </a:rPr>
              <a:t>22.6%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24581" y="2952750"/>
            <a:ext cx="1485862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260"/>
              </a:spcBef>
              <a:spcAft>
                <a:spcPts val="0"/>
              </a:spcAft>
            </a:pPr>
            <a:r>
              <a:rPr sz="956" b="0">
                <a:solidFill>
                  <a:srgbClr val="B0B0C0"/>
                </a:solidFill>
                <a:latin typeface="Source Sans Pro"/>
              </a:rPr>
              <a:t>Through 2033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29534" y="1828800"/>
            <a:ext cx="1895427" cy="1504950"/>
          </a:xfrm>
          <a:prstGeom prst="roundRect">
            <a:avLst>
              <a:gd name="adj" fmla="val 10126"/>
            </a:avLst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 Same Side Corner Rectangle 17"/>
          <p:cNvSpPr/>
          <p:nvPr/>
        </p:nvSpPr>
        <p:spPr>
          <a:xfrm rot="16200000">
            <a:off x="8926589" y="2531745"/>
            <a:ext cx="1504950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4A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848603" y="2019299"/>
            <a:ext cx="1485862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076" b="1">
                <a:solidFill>
                  <a:srgbClr val="D4A76A"/>
                </a:solidFill>
                <a:latin typeface="Source Sans Pro"/>
              </a:rPr>
              <a:t> </a:t>
            </a:r>
            <a:r>
              <a:rPr sz="1104"/>
              <a:t>  </a:t>
            </a:r>
            <a:r>
              <a:rPr sz="1076" b="1">
                <a:solidFill>
                  <a:srgbClr val="D4A76A"/>
                </a:solidFill>
                <a:latin typeface="Source Sans Pro"/>
              </a:rPr>
              <a:t> Iron Reserve 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848603" y="2034427"/>
            <a:ext cx="190495" cy="17929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848603" y="2305049"/>
            <a:ext cx="1485862" cy="3809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13" b="1">
                <a:solidFill>
                  <a:srgbClr val="FFFFFF"/>
                </a:solidFill>
                <a:latin typeface="Source Sans Pro"/>
              </a:rPr>
              <a:t>40%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48603" y="2724150"/>
            <a:ext cx="1485862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260"/>
              </a:spcBef>
              <a:spcAft>
                <a:spcPts val="0"/>
              </a:spcAft>
            </a:pPr>
            <a:r>
              <a:rPr sz="956" b="0">
                <a:solidFill>
                  <a:srgbClr val="B0B0C0"/>
                </a:solidFill>
                <a:latin typeface="Source Sans Pro"/>
              </a:rPr>
              <a:t>Treasury protection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05512" y="3562349"/>
            <a:ext cx="1895427" cy="1476375"/>
          </a:xfrm>
          <a:prstGeom prst="roundRect">
            <a:avLst>
              <a:gd name="adj" fmla="val 10322"/>
            </a:avLst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 Same Side Corner Rectangle 23"/>
          <p:cNvSpPr/>
          <p:nvPr/>
        </p:nvSpPr>
        <p:spPr>
          <a:xfrm rot="16200000">
            <a:off x="6816855" y="4251006"/>
            <a:ext cx="1476375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4A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24581" y="3752849"/>
            <a:ext cx="1485862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076" b="1">
                <a:solidFill>
                  <a:srgbClr val="D4A76A"/>
                </a:solidFill>
                <a:latin typeface="Source Sans Pro"/>
              </a:rPr>
              <a:t> </a:t>
            </a:r>
            <a:r>
              <a:rPr sz="1104"/>
              <a:t>  </a:t>
            </a:r>
            <a:r>
              <a:rPr sz="1076" b="1">
                <a:solidFill>
                  <a:srgbClr val="D4A76A"/>
                </a:solidFill>
                <a:latin typeface="Source Sans Pro"/>
              </a:rPr>
              <a:t> Compliance 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724581" y="3770779"/>
            <a:ext cx="190495" cy="17369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724581" y="4038599"/>
            <a:ext cx="1485862" cy="3809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13" b="1">
                <a:solidFill>
                  <a:srgbClr val="FFFFFF"/>
                </a:solidFill>
                <a:latin typeface="Source Sans Pro"/>
              </a:rPr>
              <a:t>100%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24581" y="4457700"/>
            <a:ext cx="1485862" cy="3809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260"/>
              </a:spcBef>
              <a:spcAft>
                <a:spcPts val="0"/>
              </a:spcAft>
            </a:pPr>
            <a:r>
              <a:rPr sz="956" b="0">
                <a:solidFill>
                  <a:srgbClr val="B0B0C0"/>
                </a:solidFill>
                <a:latin typeface="Source Sans Pro"/>
              </a:rPr>
              <a:t>Zero risk from inception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29534" y="3562349"/>
            <a:ext cx="1895427" cy="1476375"/>
          </a:xfrm>
          <a:prstGeom prst="roundRect">
            <a:avLst>
              <a:gd name="adj" fmla="val 10322"/>
            </a:avLst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 Same Side Corner Rectangle 29"/>
          <p:cNvSpPr/>
          <p:nvPr/>
        </p:nvSpPr>
        <p:spPr>
          <a:xfrm rot="16200000">
            <a:off x="8940877" y="4251006"/>
            <a:ext cx="1476375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4A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848603" y="3752849"/>
            <a:ext cx="1485862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076" b="1">
                <a:solidFill>
                  <a:srgbClr val="D4A76A"/>
                </a:solidFill>
                <a:latin typeface="Source Sans Pro"/>
              </a:rPr>
              <a:t> </a:t>
            </a:r>
            <a:r>
              <a:rPr sz="1104"/>
              <a:t>  </a:t>
            </a:r>
            <a:r>
              <a:rPr sz="1076" b="1">
                <a:solidFill>
                  <a:srgbClr val="D4A76A"/>
                </a:solidFill>
                <a:latin typeface="Source Sans Pro"/>
              </a:rPr>
              <a:t> IPO Roadmap 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848603" y="3804397"/>
            <a:ext cx="190495" cy="106455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9848603" y="4038599"/>
            <a:ext cx="1485862" cy="3809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13" b="1">
                <a:solidFill>
                  <a:srgbClr val="FFFFFF"/>
                </a:solidFill>
                <a:latin typeface="Source Sans Pro"/>
              </a:rPr>
              <a:t>3 Years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48603" y="4457700"/>
            <a:ext cx="1485862" cy="3809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260"/>
              </a:spcBef>
              <a:spcAft>
                <a:spcPts val="0"/>
              </a:spcAft>
            </a:pPr>
            <a:r>
              <a:rPr sz="956" b="0">
                <a:solidFill>
                  <a:srgbClr val="B0B0C0"/>
                </a:solidFill>
                <a:latin typeface="Source Sans Pro"/>
              </a:rPr>
              <a:t>Clear pathway to listing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0" y="6543675"/>
            <a:ext cx="12191695" cy="1714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D4A76A"/>
                </a:solidFill>
                <a:latin typeface="Source Sans Pro"/>
              </a:rPr>
              <a:t>© 2026 Brave Ecom Pvt Ltd. All Rights Reserved.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2121C">
                <a:alpha val="95000"/>
              </a:srgbClr>
            </a:gs>
            <a:gs pos="100000">
              <a:srgbClr val="1A1A26">
                <a:alpha val="90000"/>
              </a:srgbClr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6198" cy="6858000"/>
          </a:xfrm>
          <a:prstGeom prst="rect">
            <a:avLst/>
          </a:prstGeom>
          <a:solidFill>
            <a:srgbClr val="D4A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9753356" y="190499"/>
            <a:ext cx="1771605" cy="380999"/>
          </a:xfrm>
          <a:prstGeom prst="roundRect">
            <a:avLst>
              <a:gd name="adj" fmla="val 100000"/>
            </a:avLst>
          </a:prstGeom>
          <a:solidFill>
            <a:srgbClr val="D4A76A">
              <a:alpha val="20000"/>
            </a:srgbClr>
          </a:solidFill>
          <a:ln w="16510">
            <a:solidFill>
              <a:srgbClr val="D4A7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15277" y="299757"/>
            <a:ext cx="190495" cy="16248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181970" y="285750"/>
            <a:ext cx="1181070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Source Sans Pro"/>
              </a:rPr>
              <a:t>Global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6733" y="380999"/>
            <a:ext cx="9972425" cy="4762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392" b="1">
                <a:solidFill>
                  <a:srgbClr val="FFFFFF"/>
                </a:solidFill>
                <a:latin typeface="Source Sans Pro"/>
              </a:rPr>
              <a:t>Company Overview: The Brave Ecom Advantage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10829654" y="476249"/>
            <a:ext cx="695307" cy="380999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6733" y="1183791"/>
            <a:ext cx="266693" cy="22321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66733" y="1581149"/>
            <a:ext cx="5143371" cy="238124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196" b="0">
                <a:solidFill>
                  <a:srgbClr val="FFFFFF"/>
                </a:solidFill>
                <a:latin typeface="Source Sans Pro"/>
              </a:rPr>
              <a:t> </a:t>
            </a:r>
            <a:r>
              <a:rPr sz="1104"/>
              <a:t>  </a:t>
            </a:r>
            <a:r>
              <a:rPr sz="1196" b="0">
                <a:solidFill>
                  <a:srgbClr val="FFFFFF"/>
                </a:solidFill>
                <a:latin typeface="Source Sans Pro"/>
              </a:rPr>
              <a:t> Ledger Consistency: Global inventory sync 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6733" y="1595157"/>
            <a:ext cx="190495" cy="16248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66733" y="1933574"/>
            <a:ext cx="5143371" cy="238124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196" b="0">
                <a:solidFill>
                  <a:srgbClr val="FFFFFF"/>
                </a:solidFill>
                <a:latin typeface="Source Sans Pro"/>
              </a:rPr>
              <a:t> </a:t>
            </a:r>
            <a:r>
              <a:rPr sz="1104"/>
              <a:t>  </a:t>
            </a:r>
            <a:r>
              <a:rPr sz="1196" b="0">
                <a:solidFill>
                  <a:srgbClr val="FFFFFF"/>
                </a:solidFill>
                <a:latin typeface="Source Sans Pro"/>
              </a:rPr>
              <a:t> Frictionless Onboarding: Cross-border integration 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6733" y="1947582"/>
            <a:ext cx="190495" cy="16248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66733" y="2605294"/>
            <a:ext cx="266693" cy="23771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66733" y="3009900"/>
            <a:ext cx="5143371" cy="238124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196" b="0">
                <a:solidFill>
                  <a:srgbClr val="FFFFFF"/>
                </a:solidFill>
                <a:latin typeface="Source Sans Pro"/>
              </a:rPr>
              <a:t> </a:t>
            </a:r>
            <a:r>
              <a:rPr sz="1104"/>
              <a:t>  </a:t>
            </a:r>
            <a:r>
              <a:rPr sz="1196" b="0">
                <a:solidFill>
                  <a:srgbClr val="FFFFFF"/>
                </a:solidFill>
                <a:latin typeface="Source Sans Pro"/>
              </a:rPr>
              <a:t> 100% Compliance: Global regulatory adherence 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6733" y="3023907"/>
            <a:ext cx="190495" cy="16248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66733" y="3362324"/>
            <a:ext cx="5143371" cy="238124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196" b="0">
                <a:solidFill>
                  <a:srgbClr val="FFFFFF"/>
                </a:solidFill>
                <a:latin typeface="Source Sans Pro"/>
              </a:rPr>
              <a:t> </a:t>
            </a:r>
            <a:r>
              <a:rPr sz="1104"/>
              <a:t>  </a:t>
            </a:r>
            <a:r>
              <a:rPr sz="1196" b="0">
                <a:solidFill>
                  <a:srgbClr val="FFFFFF"/>
                </a:solidFill>
                <a:latin typeface="Source Sans Pro"/>
              </a:rPr>
              <a:t> ESOP Pool: Section 62(1)(b) 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6733" y="3376332"/>
            <a:ext cx="190495" cy="16248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66733" y="3714750"/>
            <a:ext cx="5143371" cy="238124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196" b="0">
                <a:solidFill>
                  <a:srgbClr val="FFFFFF"/>
                </a:solidFill>
                <a:latin typeface="Source Sans Pro"/>
              </a:rPr>
              <a:t> </a:t>
            </a:r>
            <a:r>
              <a:rPr sz="1104"/>
              <a:t>  </a:t>
            </a:r>
            <a:r>
              <a:rPr sz="1196" b="0">
                <a:solidFill>
                  <a:srgbClr val="FFFFFF"/>
                </a:solidFill>
                <a:latin typeface="Source Sans Pro"/>
              </a:rPr>
              <a:t> Audit Ready: Quarterly + Annual 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6733" y="3728757"/>
            <a:ext cx="190495" cy="16248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66733" y="4543425"/>
            <a:ext cx="5143371" cy="43814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1300"/>
              </a:spcBef>
              <a:spcAft>
                <a:spcPts val="0"/>
              </a:spcAft>
            </a:pPr>
            <a:r>
              <a:rPr sz="1076" b="0">
                <a:solidFill>
                  <a:srgbClr val="B0B0C0"/>
                </a:solidFill>
                <a:latin typeface="Source Sans Pro"/>
              </a:rPr>
              <a:t>"Invest in a startup that combines the agility of global tech innovation with the stability of blue-chip financial discipline."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381590" y="1222927"/>
            <a:ext cx="266693" cy="144945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6381590" y="1581149"/>
            <a:ext cx="2476438" cy="1143000"/>
          </a:xfrm>
          <a:prstGeom prst="roundRect">
            <a:avLst>
              <a:gd name="adj" fmla="val 13333"/>
            </a:avLst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 Same Side Corner Rectangle 23"/>
          <p:cNvSpPr/>
          <p:nvPr/>
        </p:nvSpPr>
        <p:spPr>
          <a:xfrm rot="16200000">
            <a:off x="5859620" y="2103119"/>
            <a:ext cx="1143000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4A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600659" y="1771650"/>
            <a:ext cx="2066873" cy="4952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2511" b="1">
                <a:solidFill>
                  <a:srgbClr val="FFFFFF"/>
                </a:solidFill>
                <a:latin typeface="Source Sans Pro"/>
              </a:rPr>
              <a:t>22.6%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00659" y="2314575"/>
            <a:ext cx="2066873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B0B0C0"/>
                </a:solidFill>
                <a:latin typeface="Source Sans Pro"/>
              </a:rPr>
              <a:t>Global Market CAGR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48523" y="1581149"/>
            <a:ext cx="2476438" cy="1143000"/>
          </a:xfrm>
          <a:prstGeom prst="roundRect">
            <a:avLst>
              <a:gd name="adj" fmla="val 13333"/>
            </a:avLst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 Same Side Corner Rectangle 27"/>
          <p:cNvSpPr/>
          <p:nvPr/>
        </p:nvSpPr>
        <p:spPr>
          <a:xfrm rot="16200000">
            <a:off x="8526553" y="2103119"/>
            <a:ext cx="1143000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4A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267593" y="1771650"/>
            <a:ext cx="2066873" cy="4952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2511" b="1">
                <a:solidFill>
                  <a:srgbClr val="FFFFFF"/>
                </a:solidFill>
                <a:latin typeface="Source Sans Pro"/>
              </a:rPr>
              <a:t>40%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67593" y="2314575"/>
            <a:ext cx="2066873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B0B0C0"/>
                </a:solidFill>
                <a:latin typeface="Source Sans Pro"/>
              </a:rPr>
              <a:t>Iron Reserve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81590" y="2914650"/>
            <a:ext cx="2476438" cy="1143000"/>
          </a:xfrm>
          <a:prstGeom prst="roundRect">
            <a:avLst>
              <a:gd name="adj" fmla="val 13333"/>
            </a:avLst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 Same Side Corner Rectangle 31"/>
          <p:cNvSpPr/>
          <p:nvPr/>
        </p:nvSpPr>
        <p:spPr>
          <a:xfrm rot="16200000">
            <a:off x="5859620" y="3436620"/>
            <a:ext cx="1143000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4A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600659" y="3105149"/>
            <a:ext cx="2066873" cy="4952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2511" b="1">
                <a:solidFill>
                  <a:srgbClr val="FFFFFF"/>
                </a:solidFill>
                <a:latin typeface="Source Sans Pro"/>
              </a:rPr>
              <a:t>30-40%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00659" y="3648074"/>
            <a:ext cx="2066873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B0B0C0"/>
                </a:solidFill>
                <a:latin typeface="Source Sans Pro"/>
              </a:rPr>
              <a:t>Turnover Reduction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48523" y="2914650"/>
            <a:ext cx="2476438" cy="1143000"/>
          </a:xfrm>
          <a:prstGeom prst="roundRect">
            <a:avLst>
              <a:gd name="adj" fmla="val 13333"/>
            </a:avLst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 Same Side Corner Rectangle 35"/>
          <p:cNvSpPr/>
          <p:nvPr/>
        </p:nvSpPr>
        <p:spPr>
          <a:xfrm rot="16200000">
            <a:off x="8526553" y="3436620"/>
            <a:ext cx="1143000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4A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267593" y="3105149"/>
            <a:ext cx="2066873" cy="4952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2511" b="1">
                <a:solidFill>
                  <a:srgbClr val="FFFFFF"/>
                </a:solidFill>
                <a:latin typeface="Source Sans Pro"/>
              </a:rPr>
              <a:t>20-25%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67593" y="3648074"/>
            <a:ext cx="2066873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B0B0C0"/>
                </a:solidFill>
                <a:latin typeface="Source Sans Pro"/>
              </a:rPr>
              <a:t>Interest Coverage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381590" y="4423327"/>
            <a:ext cx="266693" cy="144945"/>
          </a:xfrm>
          <a:prstGeom prst="rect">
            <a:avLst/>
          </a:prstGeom>
        </p:spPr>
      </p:pic>
      <p:sp>
        <p:nvSpPr>
          <p:cNvPr id="40" name="Rounded Rectangle 39"/>
          <p:cNvSpPr/>
          <p:nvPr/>
        </p:nvSpPr>
        <p:spPr>
          <a:xfrm>
            <a:off x="6381590" y="4829175"/>
            <a:ext cx="1543011" cy="1143000"/>
          </a:xfrm>
          <a:prstGeom prst="roundRect">
            <a:avLst>
              <a:gd name="adj" fmla="val 13333"/>
            </a:avLst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524461" y="4972050"/>
            <a:ext cx="1257268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20"/>
              </a:spcAft>
            </a:pPr>
            <a:r>
              <a:rPr sz="1674" b="1">
                <a:solidFill>
                  <a:srgbClr val="D4A76A"/>
                </a:solidFill>
                <a:latin typeface="Source Sans Pro"/>
              </a:rPr>
              <a:t>Y1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24461" y="5391150"/>
            <a:ext cx="1257268" cy="43814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Source Sans Pro"/>
              </a:rPr>
              <a:t>Global Trust &amp; Traction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181770" y="4829175"/>
            <a:ext cx="1543011" cy="1143000"/>
          </a:xfrm>
          <a:prstGeom prst="roundRect">
            <a:avLst>
              <a:gd name="adj" fmla="val 13333"/>
            </a:avLst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324641" y="4972050"/>
            <a:ext cx="1257268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20"/>
              </a:spcAft>
            </a:pPr>
            <a:r>
              <a:rPr sz="1674" b="1">
                <a:solidFill>
                  <a:srgbClr val="D4A76A"/>
                </a:solidFill>
                <a:latin typeface="Source Sans Pro"/>
              </a:rPr>
              <a:t>Y2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24641" y="5391150"/>
            <a:ext cx="1257268" cy="43814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Source Sans Pro"/>
              </a:rPr>
              <a:t>International Scale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981950" y="4829175"/>
            <a:ext cx="1543011" cy="1143000"/>
          </a:xfrm>
          <a:prstGeom prst="roundRect">
            <a:avLst>
              <a:gd name="adj" fmla="val 13333"/>
            </a:avLst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0124821" y="4972050"/>
            <a:ext cx="1257268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20"/>
              </a:spcAft>
            </a:pPr>
            <a:r>
              <a:rPr sz="1674" b="1">
                <a:solidFill>
                  <a:srgbClr val="D4A76A"/>
                </a:solidFill>
                <a:latin typeface="Source Sans Pro"/>
              </a:rPr>
              <a:t>Y3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124821" y="5391150"/>
            <a:ext cx="1257268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Source Sans Pro"/>
              </a:rPr>
              <a:t>Global Pre-IPO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0" y="6543675"/>
            <a:ext cx="12191695" cy="1714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D4A76A"/>
                </a:solidFill>
                <a:latin typeface="Source Sans Pro"/>
              </a:rPr>
              <a:t>© 2026 Brave Ecom Pvt Ltd. All Rights Reserved.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2121C">
                <a:alpha val="95000"/>
              </a:srgbClr>
            </a:gs>
            <a:gs pos="100000">
              <a:srgbClr val="1A1A26">
                <a:alpha val="90000"/>
              </a:srgbClr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6198" cy="7915275"/>
          </a:xfrm>
          <a:prstGeom prst="rect">
            <a:avLst/>
          </a:prstGeom>
          <a:solidFill>
            <a:srgbClr val="D4A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12191695" cy="7915275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9753356" y="190499"/>
            <a:ext cx="1771605" cy="380999"/>
          </a:xfrm>
          <a:prstGeom prst="roundRect">
            <a:avLst>
              <a:gd name="adj" fmla="val 100000"/>
            </a:avLst>
          </a:prstGeom>
          <a:solidFill>
            <a:srgbClr val="D4A76A">
              <a:alpha val="20000"/>
            </a:srgbClr>
          </a:solidFill>
          <a:ln w="16510">
            <a:solidFill>
              <a:srgbClr val="D4A7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15277" y="299757"/>
            <a:ext cx="190495" cy="16248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181970" y="285750"/>
            <a:ext cx="1181070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Source Sans Pro"/>
              </a:rPr>
              <a:t>Global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6733" y="380999"/>
            <a:ext cx="9972425" cy="4762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392" b="1">
                <a:solidFill>
                  <a:srgbClr val="FFFFFF"/>
                </a:solidFill>
                <a:latin typeface="Source Sans Pro"/>
              </a:rPr>
              <a:t>Investment Thesis: Why Brave Ecom?</a:t>
            </a:r>
          </a:p>
        </p:txBody>
      </p:sp>
      <p:sp>
        <p:nvSpPr>
          <p:cNvPr id="8" name="Rectangle 7"/>
          <p:cNvSpPr/>
          <p:nvPr/>
        </p:nvSpPr>
        <p:spPr>
          <a:xfrm>
            <a:off x="10829654" y="476249"/>
            <a:ext cx="695307" cy="380999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66733" y="1143000"/>
            <a:ext cx="5143371" cy="1409699"/>
          </a:xfrm>
          <a:prstGeom prst="roundRect">
            <a:avLst>
              <a:gd name="adj" fmla="val 10810"/>
            </a:avLst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 Same Side Corner Rectangle 9"/>
          <p:cNvSpPr/>
          <p:nvPr/>
        </p:nvSpPr>
        <p:spPr>
          <a:xfrm rot="16200000">
            <a:off x="11414" y="1798319"/>
            <a:ext cx="1409699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4A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33426" y="1381124"/>
            <a:ext cx="4638559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975"/>
              </a:spcAft>
            </a:pPr>
            <a:r>
              <a:rPr sz="1315" b="1">
                <a:solidFill>
                  <a:srgbClr val="D4A76A"/>
                </a:solidFill>
                <a:latin typeface="Source Sans Pro"/>
              </a:rPr>
              <a:t>The Core Promise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3426" y="1790700"/>
            <a:ext cx="2085922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50"/>
              </a:spcAft>
            </a:pPr>
            <a:r>
              <a:rPr sz="1196" b="1">
                <a:solidFill>
                  <a:srgbClr val="FFFFFF"/>
                </a:solidFill>
                <a:latin typeface="Source Sans Pro"/>
              </a:rPr>
              <a:t>Built to Grow Fast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426" y="2124075"/>
            <a:ext cx="2085922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B0B0C0"/>
                </a:solidFill>
                <a:latin typeface="Source Sans Pro"/>
              </a:rPr>
              <a:t>Global dropshipping giant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86062" y="1790700"/>
            <a:ext cx="2085922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50"/>
              </a:spcAft>
            </a:pPr>
            <a:r>
              <a:rPr sz="1196" b="1">
                <a:solidFill>
                  <a:srgbClr val="FFFFFF"/>
                </a:solidFill>
                <a:latin typeface="Source Sans Pro"/>
              </a:rPr>
              <a:t>Built to Last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86062" y="2124075"/>
            <a:ext cx="2085922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B0B0C0"/>
                </a:solidFill>
                <a:latin typeface="Source Sans Pro"/>
              </a:rPr>
              <a:t>Blue-chip financial discipline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6733" y="2866196"/>
            <a:ext cx="266693" cy="249306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666733" y="3276599"/>
            <a:ext cx="2476438" cy="1476375"/>
          </a:xfrm>
          <a:prstGeom prst="roundRect">
            <a:avLst>
              <a:gd name="adj" fmla="val 10322"/>
            </a:avLst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 Same Side Corner Rectangle 17"/>
          <p:cNvSpPr/>
          <p:nvPr/>
        </p:nvSpPr>
        <p:spPr>
          <a:xfrm rot="16200000">
            <a:off x="-21924" y="3965256"/>
            <a:ext cx="1476375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4A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85802" y="3475892"/>
            <a:ext cx="304792" cy="28721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85802" y="3867149"/>
            <a:ext cx="2066873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Source Sans Pro"/>
              </a:rPr>
              <a:t>Legal Shield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5802" y="4181474"/>
            <a:ext cx="2066873" cy="3809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B0B0C0"/>
                </a:solidFill>
                <a:latin typeface="Source Sans Pro"/>
              </a:rPr>
              <a:t>International structure protects global assets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33666" y="3276599"/>
            <a:ext cx="2476438" cy="1476375"/>
          </a:xfrm>
          <a:prstGeom prst="roundRect">
            <a:avLst>
              <a:gd name="adj" fmla="val 10322"/>
            </a:avLst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 Same Side Corner Rectangle 22"/>
          <p:cNvSpPr/>
          <p:nvPr/>
        </p:nvSpPr>
        <p:spPr>
          <a:xfrm rot="16200000">
            <a:off x="2645009" y="3965256"/>
            <a:ext cx="1476375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4A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552736" y="3483219"/>
            <a:ext cx="304792" cy="272561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3552736" y="3867149"/>
            <a:ext cx="2066873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Source Sans Pro"/>
              </a:rPr>
              <a:t>Financial Buffer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52736" y="4181474"/>
            <a:ext cx="2066873" cy="3809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B0B0C0"/>
                </a:solidFill>
                <a:latin typeface="Source Sans Pro"/>
              </a:rPr>
              <a:t>Interest covers 20-25% of global operations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6733" y="4943475"/>
            <a:ext cx="2476438" cy="1476375"/>
          </a:xfrm>
          <a:prstGeom prst="roundRect">
            <a:avLst>
              <a:gd name="adj" fmla="val 10322"/>
            </a:avLst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 Same Side Corner Rectangle 27"/>
          <p:cNvSpPr/>
          <p:nvPr/>
        </p:nvSpPr>
        <p:spPr>
          <a:xfrm rot="16200000">
            <a:off x="-21924" y="5632132"/>
            <a:ext cx="1476375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4A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85802" y="5204313"/>
            <a:ext cx="304792" cy="164123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85802" y="5534025"/>
            <a:ext cx="2066873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Source Sans Pro"/>
              </a:rPr>
              <a:t>Talent Retention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5802" y="5848350"/>
            <a:ext cx="2066873" cy="3809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B0B0C0"/>
                </a:solidFill>
                <a:latin typeface="Source Sans Pro"/>
              </a:rPr>
              <a:t>Global ESOPs reduce key person risk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333666" y="4943475"/>
            <a:ext cx="2476438" cy="1476375"/>
          </a:xfrm>
          <a:prstGeom prst="roundRect">
            <a:avLst>
              <a:gd name="adj" fmla="val 10322"/>
            </a:avLst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 Same Side Corner Rectangle 32"/>
          <p:cNvSpPr/>
          <p:nvPr/>
        </p:nvSpPr>
        <p:spPr>
          <a:xfrm rot="16200000">
            <a:off x="2645009" y="5632132"/>
            <a:ext cx="1476375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4A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552736" y="5204313"/>
            <a:ext cx="304792" cy="164123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3552736" y="5534025"/>
            <a:ext cx="2066873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Source Sans Pro"/>
              </a:rPr>
              <a:t>Market Resilience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52736" y="5848350"/>
            <a:ext cx="2066873" cy="3809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B0B0C0"/>
                </a:solidFill>
                <a:latin typeface="Source Sans Pro"/>
              </a:rPr>
              <a:t>Diversified international revenue streams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381590" y="1176544"/>
            <a:ext cx="266693" cy="237710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6381590" y="1581149"/>
            <a:ext cx="2476438" cy="1476375"/>
          </a:xfrm>
          <a:prstGeom prst="roundRect">
            <a:avLst>
              <a:gd name="adj" fmla="val 10322"/>
            </a:avLst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 Same Side Corner Rectangle 38"/>
          <p:cNvSpPr/>
          <p:nvPr/>
        </p:nvSpPr>
        <p:spPr>
          <a:xfrm rot="16200000">
            <a:off x="5692933" y="2269806"/>
            <a:ext cx="1476375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4A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600659" y="1795096"/>
            <a:ext cx="304792" cy="257907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6600659" y="2171700"/>
            <a:ext cx="2066873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Source Sans Pro"/>
              </a:rPr>
              <a:t>Regulatory Compliance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00659" y="2486025"/>
            <a:ext cx="2066873" cy="3809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B0B0C0"/>
                </a:solidFill>
                <a:latin typeface="Source Sans Pro"/>
              </a:rPr>
              <a:t>Full adherence to international regulations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048523" y="1581149"/>
            <a:ext cx="2476438" cy="1476375"/>
          </a:xfrm>
          <a:prstGeom prst="roundRect">
            <a:avLst>
              <a:gd name="adj" fmla="val 10322"/>
            </a:avLst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 Same Side Corner Rectangle 43"/>
          <p:cNvSpPr/>
          <p:nvPr/>
        </p:nvSpPr>
        <p:spPr>
          <a:xfrm rot="16200000">
            <a:off x="8359866" y="2269806"/>
            <a:ext cx="1476375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4A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9267593" y="1800957"/>
            <a:ext cx="304792" cy="246184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9267593" y="2171700"/>
            <a:ext cx="2066873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Source Sans Pro"/>
              </a:rPr>
              <a:t>Conservative Treasury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67593" y="2486025"/>
            <a:ext cx="2066873" cy="3809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B0B0C0"/>
                </a:solidFill>
                <a:latin typeface="Source Sans Pro"/>
              </a:rPr>
              <a:t>40% Global Iron Reserve in high-yield instruments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381590" y="3248024"/>
            <a:ext cx="2476438" cy="1476375"/>
          </a:xfrm>
          <a:prstGeom prst="roundRect">
            <a:avLst>
              <a:gd name="adj" fmla="val 10322"/>
            </a:avLst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 Same Side Corner Rectangle 48"/>
          <p:cNvSpPr/>
          <p:nvPr/>
        </p:nvSpPr>
        <p:spPr>
          <a:xfrm rot="16200000">
            <a:off x="5692933" y="3936681"/>
            <a:ext cx="1476375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4A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6600659" y="3482486"/>
            <a:ext cx="304792" cy="216876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6600659" y="3838574"/>
            <a:ext cx="2066873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Source Sans Pro"/>
              </a:rPr>
              <a:t>ESOP Alignment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00659" y="4152899"/>
            <a:ext cx="2066873" cy="3809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B0B0C0"/>
                </a:solidFill>
                <a:latin typeface="Source Sans Pro"/>
              </a:rPr>
              <a:t>Global employee ownership creates intrapreneur culture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048523" y="3248024"/>
            <a:ext cx="2476438" cy="1476375"/>
          </a:xfrm>
          <a:prstGeom prst="roundRect">
            <a:avLst>
              <a:gd name="adj" fmla="val 10322"/>
            </a:avLst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 Same Side Corner Rectangle 53"/>
          <p:cNvSpPr/>
          <p:nvPr/>
        </p:nvSpPr>
        <p:spPr>
          <a:xfrm rot="16200000">
            <a:off x="8359866" y="3936681"/>
            <a:ext cx="1476375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4A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9267593" y="3508863"/>
            <a:ext cx="304792" cy="164123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9267593" y="3838574"/>
            <a:ext cx="2066873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Source Sans Pro"/>
              </a:rPr>
              <a:t>Clear IPO Pathway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267593" y="4152899"/>
            <a:ext cx="2066873" cy="3809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B0B0C0"/>
                </a:solidFill>
                <a:latin typeface="Source Sans Pro"/>
              </a:rPr>
              <a:t>Structured 3-year roadmap to international listing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381590" y="5010149"/>
            <a:ext cx="5143371" cy="2238375"/>
          </a:xfrm>
          <a:prstGeom prst="roundRect">
            <a:avLst>
              <a:gd name="adj" fmla="val 6808"/>
            </a:avLst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ound Same Side Corner Rectangle 58"/>
          <p:cNvSpPr/>
          <p:nvPr/>
        </p:nvSpPr>
        <p:spPr>
          <a:xfrm rot="16200000">
            <a:off x="5311933" y="6079806"/>
            <a:ext cx="2238375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4A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648283" y="5248275"/>
            <a:ext cx="4638559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300"/>
              </a:spcAft>
            </a:pPr>
            <a:r>
              <a:rPr sz="1315" b="1">
                <a:solidFill>
                  <a:srgbClr val="D4A76A"/>
                </a:solidFill>
                <a:latin typeface="Source Sans Pro"/>
              </a:rPr>
              <a:t>Global Wealth Creation</a:t>
            </a:r>
          </a:p>
        </p:txBody>
      </p:sp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7057848" y="5968511"/>
            <a:ext cx="304792" cy="216876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6695907" y="6324599"/>
            <a:ext cx="1019149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25"/>
              </a:spcAft>
            </a:pPr>
            <a:r>
              <a:rPr sz="956" b="0">
                <a:solidFill>
                  <a:srgbClr val="B0B0C0"/>
                </a:solidFill>
                <a:latin typeface="Source Sans Pro"/>
              </a:rPr>
              <a:t>Early Investors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695907" y="6553199"/>
            <a:ext cx="1019149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Source Sans Pro"/>
              </a:rPr>
              <a:t>10x Growth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962700" y="6000750"/>
            <a:ext cx="895327" cy="7143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588" b="1">
                <a:solidFill>
                  <a:srgbClr val="D4A76A"/>
                </a:solidFill>
                <a:latin typeface="Source Sans Pro"/>
              </a:rPr>
              <a:t>10x</a:t>
            </a:r>
          </a:p>
        </p:txBody>
      </p:sp>
      <p:pic>
        <p:nvPicPr>
          <p:cNvPr id="65" name="Picture 64" descr="image.png"/>
          <p:cNvPicPr>
            <a:picLocks noChangeAspect="1"/>
          </p:cNvPicPr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9458088" y="5749436"/>
            <a:ext cx="304792" cy="216876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9096147" y="6105525"/>
            <a:ext cx="1019149" cy="3809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25"/>
              </a:spcAft>
            </a:pPr>
            <a:r>
              <a:rPr sz="956" b="0">
                <a:solidFill>
                  <a:srgbClr val="B0B0C0"/>
                </a:solidFill>
                <a:latin typeface="Source Sans Pro"/>
              </a:rPr>
              <a:t>Global IPO Liquidity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096147" y="6534150"/>
            <a:ext cx="1019149" cy="47624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Source Sans Pro"/>
              </a:rPr>
              <a:t>ESOP Holders</a:t>
            </a:r>
          </a:p>
        </p:txBody>
      </p:sp>
      <p:pic>
        <p:nvPicPr>
          <p:cNvPr id="68" name="Picture 67" descr="image.png"/>
          <p:cNvPicPr>
            <a:picLocks noChangeAspect="1"/>
          </p:cNvPicPr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10572485" y="5835894"/>
            <a:ext cx="304792" cy="234461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10220069" y="6200775"/>
            <a:ext cx="1019149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25"/>
              </a:spcAft>
            </a:pPr>
            <a:r>
              <a:rPr sz="956" b="0">
                <a:solidFill>
                  <a:srgbClr val="B0B0C0"/>
                </a:solidFill>
                <a:latin typeface="Source Sans Pro"/>
              </a:rPr>
              <a:t>Founders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220069" y="6438899"/>
            <a:ext cx="1019149" cy="47624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Source Sans Pro"/>
              </a:rPr>
              <a:t>Value Realization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0" y="7600950"/>
            <a:ext cx="12191695" cy="1714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D4A76A"/>
                </a:solidFill>
                <a:latin typeface="Source Sans Pro"/>
              </a:rPr>
              <a:t>© 2026 Brave Ecom Pvt Ltd. All Rights Reserved.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2121C">
                <a:alpha val="95000"/>
              </a:srgbClr>
            </a:gs>
            <a:gs pos="100000">
              <a:srgbClr val="1A1A26">
                <a:alpha val="90000"/>
              </a:srgbClr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6198" cy="10458450"/>
          </a:xfrm>
          <a:prstGeom prst="rect">
            <a:avLst/>
          </a:prstGeom>
          <a:solidFill>
            <a:srgbClr val="D4A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12191695" cy="1045845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9753356" y="190499"/>
            <a:ext cx="1771605" cy="380999"/>
          </a:xfrm>
          <a:prstGeom prst="roundRect">
            <a:avLst>
              <a:gd name="adj" fmla="val 100000"/>
            </a:avLst>
          </a:prstGeom>
          <a:solidFill>
            <a:srgbClr val="D4A76A">
              <a:alpha val="20000"/>
            </a:srgbClr>
          </a:solidFill>
          <a:ln w="16510">
            <a:solidFill>
              <a:srgbClr val="D4A7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15277" y="299757"/>
            <a:ext cx="190495" cy="16248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181970" y="285750"/>
            <a:ext cx="1181070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Source Sans Pro"/>
              </a:rPr>
              <a:t>Global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6733" y="380999"/>
            <a:ext cx="9972425" cy="4762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392" b="1">
                <a:solidFill>
                  <a:srgbClr val="FFFFFF"/>
                </a:solidFill>
                <a:latin typeface="Source Sans Pro"/>
              </a:rPr>
              <a:t>The Global Dropshipping Opportunity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10829654" y="476249"/>
            <a:ext cx="695307" cy="380999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66733" y="1143000"/>
            <a:ext cx="5143371" cy="2743200"/>
          </a:xfrm>
          <a:prstGeom prst="roundRect">
            <a:avLst>
              <a:gd name="adj" fmla="val 5555"/>
            </a:avLst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 Same Side Corner Rectangle 9"/>
          <p:cNvSpPr/>
          <p:nvPr/>
        </p:nvSpPr>
        <p:spPr>
          <a:xfrm rot="16200000">
            <a:off x="-655337" y="2465070"/>
            <a:ext cx="2743200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4A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981150" y="1381124"/>
            <a:ext cx="2552636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300"/>
              </a:spcAft>
            </a:pPr>
            <a:r>
              <a:rPr sz="1315" b="1">
                <a:solidFill>
                  <a:srgbClr val="D4A76A"/>
                </a:solidFill>
                <a:latin typeface="Source Sans Pro"/>
              </a:rPr>
              <a:t>Global Market Size &amp; Growth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1585" y="1838324"/>
            <a:ext cx="1057248" cy="4286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25"/>
              </a:spcAft>
            </a:pPr>
            <a:r>
              <a:rPr sz="2152" b="1">
                <a:solidFill>
                  <a:srgbClr val="FFFFFF"/>
                </a:solidFill>
                <a:latin typeface="Source Sans Pro"/>
              </a:rPr>
              <a:t>$10.8B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1585" y="2314575"/>
            <a:ext cx="1057248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B0B0C0"/>
                </a:solidFill>
                <a:latin typeface="Source Sans Pro"/>
              </a:rPr>
              <a:t>2024 Market Size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05152" y="1838324"/>
            <a:ext cx="1038199" cy="4286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25"/>
              </a:spcAft>
            </a:pPr>
            <a:r>
              <a:rPr sz="2152" b="1">
                <a:solidFill>
                  <a:srgbClr val="FFFFFF"/>
                </a:solidFill>
                <a:latin typeface="Source Sans Pro"/>
              </a:rPr>
              <a:t>$67.5B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05152" y="2314575"/>
            <a:ext cx="1038199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B0B0C0"/>
                </a:solidFill>
                <a:latin typeface="Source Sans Pro"/>
              </a:rPr>
              <a:t>2033 Projection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28834" y="2790824"/>
            <a:ext cx="1257268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650"/>
              </a:spcBef>
              <a:spcAft>
                <a:spcPts val="650"/>
              </a:spcAft>
            </a:pPr>
            <a:r>
              <a:rPr sz="2870" b="1">
                <a:solidFill>
                  <a:srgbClr val="D4A76A"/>
                </a:solidFill>
                <a:latin typeface="Source Sans Pro"/>
              </a:rPr>
              <a:t>22.6%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57328" y="3457575"/>
            <a:ext cx="2790755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B0B0C0"/>
                </a:solidFill>
                <a:latin typeface="Source Sans Pro"/>
              </a:rPr>
              <a:t>Compound Annual Growth Rate (2025-2033)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6733" y="4194727"/>
            <a:ext cx="266693" cy="144945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666733" y="4562475"/>
            <a:ext cx="2505012" cy="609600"/>
          </a:xfrm>
          <a:prstGeom prst="roundRect">
            <a:avLst>
              <a:gd name="adj" fmla="val 25000"/>
            </a:avLst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 Same Side Corner Rectangle 19"/>
          <p:cNvSpPr/>
          <p:nvPr/>
        </p:nvSpPr>
        <p:spPr>
          <a:xfrm rot="16200000">
            <a:off x="411463" y="4817745"/>
            <a:ext cx="609600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4A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09604" y="4787265"/>
            <a:ext cx="228594" cy="16002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133446" y="4772025"/>
            <a:ext cx="1733506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Source Sans Pro"/>
              </a:rPr>
              <a:t>Global Internet Penetration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14617" y="4562475"/>
            <a:ext cx="2505012" cy="609600"/>
          </a:xfrm>
          <a:prstGeom prst="roundRect">
            <a:avLst>
              <a:gd name="adj" fmla="val 25000"/>
            </a:avLst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 Same Side Corner Rectangle 23"/>
          <p:cNvSpPr/>
          <p:nvPr/>
        </p:nvSpPr>
        <p:spPr>
          <a:xfrm rot="16200000">
            <a:off x="3059347" y="4817745"/>
            <a:ext cx="609600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4A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447963" y="4758690"/>
            <a:ext cx="228594" cy="21717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3771805" y="4676775"/>
            <a:ext cx="1924001" cy="3809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Source Sans Pro"/>
              </a:rPr>
              <a:t>Worldwide Smartphone Adoption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6733" y="5314950"/>
            <a:ext cx="2505012" cy="609600"/>
          </a:xfrm>
          <a:prstGeom prst="roundRect">
            <a:avLst>
              <a:gd name="adj" fmla="val 25000"/>
            </a:avLst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 Same Side Corner Rectangle 27"/>
          <p:cNvSpPr/>
          <p:nvPr/>
        </p:nvSpPr>
        <p:spPr>
          <a:xfrm rot="16200000">
            <a:off x="411463" y="5570220"/>
            <a:ext cx="609600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4A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09604" y="5536882"/>
            <a:ext cx="228594" cy="165734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133446" y="5429250"/>
            <a:ext cx="1924001" cy="3809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Source Sans Pro"/>
              </a:rPr>
              <a:t>Cross-border Payment Systems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314617" y="5314950"/>
            <a:ext cx="2505012" cy="609600"/>
          </a:xfrm>
          <a:prstGeom prst="roundRect">
            <a:avLst>
              <a:gd name="adj" fmla="val 25000"/>
            </a:avLst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 Same Side Corner Rectangle 31"/>
          <p:cNvSpPr/>
          <p:nvPr/>
        </p:nvSpPr>
        <p:spPr>
          <a:xfrm rot="16200000">
            <a:off x="3059347" y="5570220"/>
            <a:ext cx="609600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4A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447963" y="5511165"/>
            <a:ext cx="228594" cy="21717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3771805" y="5524499"/>
            <a:ext cx="1743031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Source Sans Pro"/>
              </a:rPr>
              <a:t>International Trade Policies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66733" y="6067424"/>
            <a:ext cx="2505012" cy="800100"/>
          </a:xfrm>
          <a:prstGeom prst="roundRect">
            <a:avLst>
              <a:gd name="adj" fmla="val 19047"/>
            </a:avLst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 Same Side Corner Rectangle 35"/>
          <p:cNvSpPr/>
          <p:nvPr/>
        </p:nvSpPr>
        <p:spPr>
          <a:xfrm rot="16200000">
            <a:off x="316213" y="6417944"/>
            <a:ext cx="800100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4A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809604" y="6404610"/>
            <a:ext cx="228594" cy="125729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133446" y="6372225"/>
            <a:ext cx="1543011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Source Sans Pro"/>
              </a:rPr>
              <a:t>Zero-Investment Models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314617" y="6067424"/>
            <a:ext cx="2505012" cy="800100"/>
          </a:xfrm>
          <a:prstGeom prst="roundRect">
            <a:avLst>
              <a:gd name="adj" fmla="val 19047"/>
            </a:avLst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 Same Side Corner Rectangle 39"/>
          <p:cNvSpPr/>
          <p:nvPr/>
        </p:nvSpPr>
        <p:spPr>
          <a:xfrm rot="16200000">
            <a:off x="2964097" y="6417944"/>
            <a:ext cx="800100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4A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447963" y="6324599"/>
            <a:ext cx="147" cy="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D4A76A"/>
                </a:solidFill>
              </a:rPr>
              <a:t>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43351" y="6181724"/>
            <a:ext cx="752456" cy="5715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Source Sans Pro"/>
              </a:rPr>
              <a:t>Global Logistics Networks</a:t>
            </a:r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381590" y="1211331"/>
            <a:ext cx="266693" cy="168136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6381590" y="1581149"/>
            <a:ext cx="5143371" cy="2667000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6381590" y="4897092"/>
            <a:ext cx="266693" cy="226115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6381590" y="5305425"/>
            <a:ext cx="981050" cy="3809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Source Sans Pro"/>
              </a:rPr>
              <a:t>Fashion &amp; Apparel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62640" y="5381624"/>
            <a:ext cx="3781330" cy="228600"/>
          </a:xfrm>
          <a:prstGeom prst="roundRect">
            <a:avLst>
              <a:gd name="adj" fmla="val 33333"/>
            </a:avLst>
          </a:prstGeom>
          <a:solidFill>
            <a:srgbClr val="D4A76A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7362640" y="5381624"/>
            <a:ext cx="1323941" cy="228600"/>
          </a:xfrm>
          <a:prstGeom prst="roundRect">
            <a:avLst>
              <a:gd name="adj" fmla="val 33333"/>
            </a:avLst>
          </a:prstGeom>
          <a:solidFill>
            <a:srgbClr val="D4A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1239219" y="5400675"/>
            <a:ext cx="285742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D4A76A"/>
                </a:solidFill>
                <a:latin typeface="Source Sans Pro"/>
              </a:rPr>
              <a:t>35%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81590" y="5800725"/>
            <a:ext cx="981050" cy="3809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Source Sans Pro"/>
              </a:rPr>
              <a:t>Electronics &amp; Media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362640" y="5876925"/>
            <a:ext cx="3781330" cy="228600"/>
          </a:xfrm>
          <a:prstGeom prst="roundRect">
            <a:avLst>
              <a:gd name="adj" fmla="val 33333"/>
            </a:avLst>
          </a:prstGeom>
          <a:solidFill>
            <a:srgbClr val="D4A76A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7362640" y="5876925"/>
            <a:ext cx="1057248" cy="228600"/>
          </a:xfrm>
          <a:prstGeom prst="roundRect">
            <a:avLst>
              <a:gd name="adj" fmla="val 33333"/>
            </a:avLst>
          </a:prstGeom>
          <a:solidFill>
            <a:srgbClr val="D4A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11239219" y="5895974"/>
            <a:ext cx="285742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D4A76A"/>
                </a:solidFill>
                <a:latin typeface="Source Sans Pro"/>
              </a:rPr>
              <a:t>28%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81590" y="6315075"/>
            <a:ext cx="981050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Source Sans Pro"/>
              </a:rPr>
              <a:t>Home &amp; Living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362640" y="6296024"/>
            <a:ext cx="3781330" cy="228600"/>
          </a:xfrm>
          <a:prstGeom prst="roundRect">
            <a:avLst>
              <a:gd name="adj" fmla="val 33333"/>
            </a:avLst>
          </a:prstGeom>
          <a:solidFill>
            <a:srgbClr val="D4A76A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7362640" y="6296024"/>
            <a:ext cx="676258" cy="228600"/>
          </a:xfrm>
          <a:prstGeom prst="roundRect">
            <a:avLst>
              <a:gd name="adj" fmla="val 33333"/>
            </a:avLst>
          </a:prstGeom>
          <a:solidFill>
            <a:srgbClr val="D4A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1239219" y="6315075"/>
            <a:ext cx="285742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D4A76A"/>
                </a:solidFill>
                <a:latin typeface="Source Sans Pro"/>
              </a:rPr>
              <a:t>18%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81590" y="6657975"/>
            <a:ext cx="981050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Source Sans Pro"/>
              </a:rPr>
              <a:t>Toys &amp; Hobby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362640" y="6638924"/>
            <a:ext cx="3781330" cy="228600"/>
          </a:xfrm>
          <a:prstGeom prst="roundRect">
            <a:avLst>
              <a:gd name="adj" fmla="val 33333"/>
            </a:avLst>
          </a:prstGeom>
          <a:solidFill>
            <a:srgbClr val="D4A76A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7362640" y="6638924"/>
            <a:ext cx="457188" cy="228600"/>
          </a:xfrm>
          <a:prstGeom prst="roundRect">
            <a:avLst>
              <a:gd name="adj" fmla="val 33333"/>
            </a:avLst>
          </a:prstGeom>
          <a:solidFill>
            <a:srgbClr val="D4A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11239219" y="6657975"/>
            <a:ext cx="285742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D4A76A"/>
                </a:solidFill>
                <a:latin typeface="Source Sans Pro"/>
              </a:rPr>
              <a:t>12%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381590" y="6981824"/>
            <a:ext cx="981050" cy="3809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Source Sans Pro"/>
              </a:rPr>
              <a:t>Food &amp; Personal Care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362640" y="7058025"/>
            <a:ext cx="3790855" cy="228600"/>
          </a:xfrm>
          <a:prstGeom prst="roundRect">
            <a:avLst>
              <a:gd name="adj" fmla="val 33333"/>
            </a:avLst>
          </a:prstGeom>
          <a:solidFill>
            <a:srgbClr val="D4A76A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7362640" y="7058025"/>
            <a:ext cx="266693" cy="228600"/>
          </a:xfrm>
          <a:prstGeom prst="roundRect">
            <a:avLst>
              <a:gd name="adj" fmla="val 33333"/>
            </a:avLst>
          </a:prstGeom>
          <a:solidFill>
            <a:srgbClr val="D4A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11248743" y="7077075"/>
            <a:ext cx="276218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D4A76A"/>
                </a:solidFill>
                <a:latin typeface="Source Sans Pro"/>
              </a:rPr>
              <a:t>7%</a:t>
            </a:r>
          </a:p>
        </p:txBody>
      </p:sp>
      <p:pic>
        <p:nvPicPr>
          <p:cNvPr id="66" name="Picture 65" descr="image.png"/>
          <p:cNvPicPr>
            <a:picLocks noChangeAspect="1"/>
          </p:cNvPicPr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6381590" y="7754592"/>
            <a:ext cx="266693" cy="226115"/>
          </a:xfrm>
          <a:prstGeom prst="rect">
            <a:avLst/>
          </a:prstGeom>
        </p:spPr>
      </p:pic>
      <p:sp>
        <p:nvSpPr>
          <p:cNvPr id="67" name="Rounded Rectangle 66"/>
          <p:cNvSpPr/>
          <p:nvPr/>
        </p:nvSpPr>
        <p:spPr>
          <a:xfrm>
            <a:off x="6381590" y="8153399"/>
            <a:ext cx="2505012" cy="771525"/>
          </a:xfrm>
          <a:prstGeom prst="roundRect">
            <a:avLst>
              <a:gd name="adj" fmla="val 19753"/>
            </a:avLst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ound Same Side Corner Rectangle 67"/>
          <p:cNvSpPr/>
          <p:nvPr/>
        </p:nvSpPr>
        <p:spPr>
          <a:xfrm rot="16200000">
            <a:off x="6045358" y="8489631"/>
            <a:ext cx="771525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4A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6553036" y="8296274"/>
            <a:ext cx="2190695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076" b="1">
                <a:solidFill>
                  <a:srgbClr val="D4A76A"/>
                </a:solidFill>
                <a:latin typeface="Source Sans Pro"/>
              </a:rPr>
              <a:t> </a:t>
            </a:r>
            <a:r>
              <a:rPr sz="1104"/>
              <a:t>  </a:t>
            </a:r>
            <a:r>
              <a:rPr sz="1076" b="1">
                <a:solidFill>
                  <a:srgbClr val="D4A76A"/>
                </a:solidFill>
                <a:latin typeface="Source Sans Pro"/>
              </a:rPr>
              <a:t> North America </a:t>
            </a:r>
          </a:p>
        </p:txBody>
      </p:sp>
      <p:pic>
        <p:nvPicPr>
          <p:cNvPr id="70" name="Picture 69" descr="image.png"/>
          <p:cNvPicPr>
            <a:picLocks noChangeAspect="1"/>
          </p:cNvPicPr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6553036" y="8319807"/>
            <a:ext cx="190495" cy="162485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6553036" y="8591549"/>
            <a:ext cx="2190695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B0B0C0"/>
                </a:solidFill>
                <a:latin typeface="Source Sans Pro"/>
              </a:rPr>
              <a:t>Mature Markets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9029474" y="8153399"/>
            <a:ext cx="2505012" cy="771525"/>
          </a:xfrm>
          <a:prstGeom prst="roundRect">
            <a:avLst>
              <a:gd name="adj" fmla="val 19753"/>
            </a:avLst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ound Same Side Corner Rectangle 72"/>
          <p:cNvSpPr/>
          <p:nvPr/>
        </p:nvSpPr>
        <p:spPr>
          <a:xfrm rot="16200000">
            <a:off x="8693242" y="8489631"/>
            <a:ext cx="771525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4A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9200919" y="8296274"/>
            <a:ext cx="2190695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076" b="1">
                <a:solidFill>
                  <a:srgbClr val="D4A76A"/>
                </a:solidFill>
                <a:latin typeface="Source Sans Pro"/>
              </a:rPr>
              <a:t> </a:t>
            </a:r>
            <a:r>
              <a:rPr sz="1104"/>
              <a:t>  </a:t>
            </a:r>
            <a:r>
              <a:rPr sz="1076" b="1">
                <a:solidFill>
                  <a:srgbClr val="D4A76A"/>
                </a:solidFill>
                <a:latin typeface="Source Sans Pro"/>
              </a:rPr>
              <a:t> Asia-Pacific </a:t>
            </a:r>
          </a:p>
        </p:txBody>
      </p:sp>
      <p:pic>
        <p:nvPicPr>
          <p:cNvPr id="75" name="Picture 74" descr="image.png"/>
          <p:cNvPicPr>
            <a:picLocks noChangeAspect="1"/>
          </p:cNvPicPr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9200919" y="8319807"/>
            <a:ext cx="190495" cy="162485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9200919" y="8591549"/>
            <a:ext cx="2190695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B0B0C0"/>
                </a:solidFill>
                <a:latin typeface="Source Sans Pro"/>
              </a:rPr>
              <a:t>Fastest Growing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6381590" y="9067800"/>
            <a:ext cx="2505012" cy="771525"/>
          </a:xfrm>
          <a:prstGeom prst="roundRect">
            <a:avLst>
              <a:gd name="adj" fmla="val 19753"/>
            </a:avLst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ound Same Side Corner Rectangle 77"/>
          <p:cNvSpPr/>
          <p:nvPr/>
        </p:nvSpPr>
        <p:spPr>
          <a:xfrm rot="16200000">
            <a:off x="6045358" y="9404032"/>
            <a:ext cx="771525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4A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6553036" y="9210675"/>
            <a:ext cx="2190695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076" b="1">
                <a:solidFill>
                  <a:srgbClr val="D4A76A"/>
                </a:solidFill>
                <a:latin typeface="Source Sans Pro"/>
              </a:rPr>
              <a:t> </a:t>
            </a:r>
            <a:r>
              <a:rPr sz="1104"/>
              <a:t>  </a:t>
            </a:r>
            <a:r>
              <a:rPr sz="1076" b="1">
                <a:solidFill>
                  <a:srgbClr val="D4A76A"/>
                </a:solidFill>
                <a:latin typeface="Source Sans Pro"/>
              </a:rPr>
              <a:t> Europe </a:t>
            </a:r>
          </a:p>
        </p:txBody>
      </p:sp>
      <p:pic>
        <p:nvPicPr>
          <p:cNvPr id="80" name="Picture 79" descr="image.png"/>
          <p:cNvPicPr>
            <a:picLocks noChangeAspect="1"/>
          </p:cNvPicPr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6553036" y="9253817"/>
            <a:ext cx="190495" cy="123264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6553036" y="9505949"/>
            <a:ext cx="2190695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B0B0C0"/>
                </a:solidFill>
                <a:latin typeface="Source Sans Pro"/>
              </a:rPr>
              <a:t>Premium Markets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9029474" y="9067800"/>
            <a:ext cx="2505012" cy="771525"/>
          </a:xfrm>
          <a:prstGeom prst="roundRect">
            <a:avLst>
              <a:gd name="adj" fmla="val 19753"/>
            </a:avLst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ound Same Side Corner Rectangle 82"/>
          <p:cNvSpPr/>
          <p:nvPr/>
        </p:nvSpPr>
        <p:spPr>
          <a:xfrm rot="16200000">
            <a:off x="8693242" y="9404032"/>
            <a:ext cx="771525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4A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9200919" y="9210675"/>
            <a:ext cx="2190695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076" b="1">
                <a:solidFill>
                  <a:srgbClr val="D4A76A"/>
                </a:solidFill>
                <a:latin typeface="Source Sans Pro"/>
              </a:rPr>
              <a:t> </a:t>
            </a:r>
            <a:r>
              <a:rPr sz="1104"/>
              <a:t>  </a:t>
            </a:r>
            <a:r>
              <a:rPr sz="1076" b="1">
                <a:solidFill>
                  <a:srgbClr val="D4A76A"/>
                </a:solidFill>
                <a:latin typeface="Source Sans Pro"/>
              </a:rPr>
              <a:t> Emerging Markets </a:t>
            </a:r>
          </a:p>
        </p:txBody>
      </p:sp>
      <p:pic>
        <p:nvPicPr>
          <p:cNvPr id="85" name="Picture 84" descr="image.png"/>
          <p:cNvPicPr>
            <a:picLocks noChangeAspect="1"/>
          </p:cNvPicPr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9200919" y="9253817"/>
            <a:ext cx="190495" cy="123264"/>
          </a:xfrm>
          <a:prstGeom prst="rect">
            <a:avLst/>
          </a:prstGeom>
        </p:spPr>
      </p:pic>
      <p:sp>
        <p:nvSpPr>
          <p:cNvPr id="86" name="TextBox 85"/>
          <p:cNvSpPr txBox="1"/>
          <p:nvPr/>
        </p:nvSpPr>
        <p:spPr>
          <a:xfrm>
            <a:off x="9200919" y="9505949"/>
            <a:ext cx="2190695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B0B0C0"/>
                </a:solidFill>
                <a:latin typeface="Source Sans Pro"/>
              </a:rPr>
              <a:t>High Potential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0" y="10144125"/>
            <a:ext cx="12191695" cy="1714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D4A76A"/>
                </a:solidFill>
                <a:latin typeface="Source Sans Pro"/>
              </a:rPr>
              <a:t>© 2026 Brave Ecom Pvt Ltd. All Rights Reserved.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2121C">
                <a:alpha val="95000"/>
              </a:srgbClr>
            </a:gs>
            <a:gs pos="100000">
              <a:srgbClr val="1A1A26">
                <a:alpha val="90000"/>
              </a:srgbClr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6198" cy="11544300"/>
          </a:xfrm>
          <a:prstGeom prst="rect">
            <a:avLst/>
          </a:prstGeom>
          <a:solidFill>
            <a:srgbClr val="D4A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12191695" cy="115443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9753356" y="190499"/>
            <a:ext cx="1771605" cy="380999"/>
          </a:xfrm>
          <a:prstGeom prst="roundRect">
            <a:avLst>
              <a:gd name="adj" fmla="val 100000"/>
            </a:avLst>
          </a:prstGeom>
          <a:solidFill>
            <a:srgbClr val="D4A76A">
              <a:alpha val="20000"/>
            </a:srgbClr>
          </a:solidFill>
          <a:ln w="16510">
            <a:solidFill>
              <a:srgbClr val="D4A7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15277" y="299757"/>
            <a:ext cx="190495" cy="16248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181970" y="285750"/>
            <a:ext cx="1181070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Source Sans Pro"/>
              </a:rPr>
              <a:t>Global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6733" y="380999"/>
            <a:ext cx="9972425" cy="4762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392" b="1">
                <a:solidFill>
                  <a:srgbClr val="FFFFFF"/>
                </a:solidFill>
                <a:latin typeface="Source Sans Pro"/>
              </a:rPr>
              <a:t>Strategic Treasury: The Fortress Policy</a:t>
            </a:r>
          </a:p>
        </p:txBody>
      </p:sp>
      <p:sp>
        <p:nvSpPr>
          <p:cNvPr id="8" name="Rectangle 7"/>
          <p:cNvSpPr/>
          <p:nvPr/>
        </p:nvSpPr>
        <p:spPr>
          <a:xfrm>
            <a:off x="10829654" y="476249"/>
            <a:ext cx="695307" cy="380999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66733" y="1143000"/>
            <a:ext cx="5143371" cy="2590799"/>
          </a:xfrm>
          <a:prstGeom prst="roundRect">
            <a:avLst>
              <a:gd name="adj" fmla="val 5882"/>
            </a:avLst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 Same Side Corner Rectangle 9"/>
          <p:cNvSpPr/>
          <p:nvPr/>
        </p:nvSpPr>
        <p:spPr>
          <a:xfrm rot="16200000">
            <a:off x="-579136" y="2388869"/>
            <a:ext cx="2590799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4A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33426" y="1402080"/>
            <a:ext cx="228594" cy="20573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33426" y="1762125"/>
            <a:ext cx="1390615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25"/>
              </a:spcAft>
            </a:pPr>
            <a:r>
              <a:rPr sz="1674" b="1">
                <a:solidFill>
                  <a:srgbClr val="FFFFFF"/>
                </a:solidFill>
                <a:latin typeface="Source Sans Pro"/>
              </a:rPr>
              <a:t>3 Years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426" y="2152650"/>
            <a:ext cx="1390615" cy="3429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B0B0C0"/>
                </a:solidFill>
                <a:latin typeface="Source Sans Pro"/>
              </a:rPr>
              <a:t>Steady Net Worth Growth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52636" y="1762125"/>
            <a:ext cx="1390615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25"/>
              </a:spcAft>
            </a:pPr>
            <a:r>
              <a:rPr sz="1674" b="1">
                <a:solidFill>
                  <a:srgbClr val="FFFFFF"/>
                </a:solidFill>
                <a:latin typeface="Source Sans Pro"/>
              </a:rPr>
              <a:t>40%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52636" y="2152650"/>
            <a:ext cx="1390615" cy="1714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B0B0C0"/>
                </a:solidFill>
                <a:latin typeface="Source Sans Pro"/>
              </a:rPr>
              <a:t>Asset Growth Target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81370" y="1762125"/>
            <a:ext cx="1390615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25"/>
              </a:spcAft>
            </a:pPr>
            <a:r>
              <a:rPr sz="1674" b="1">
                <a:solidFill>
                  <a:srgbClr val="FFFFFF"/>
                </a:solidFill>
                <a:latin typeface="Source Sans Pro"/>
              </a:rPr>
              <a:t>25%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81370" y="2152650"/>
            <a:ext cx="1390615" cy="1714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B0B0C0"/>
                </a:solidFill>
                <a:latin typeface="Source Sans Pro"/>
              </a:rPr>
              <a:t>Liability Reduction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3426" y="2638425"/>
            <a:ext cx="4638559" cy="8572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Source Sans Pro"/>
              </a:rPr>
              <a:t>Monthly-wise capital gains from global trading operations are systematically allocated to diversified investment vehicles with proper banking backing, ensuring steady growth of company assets while reducing liabilities over the 3-year period.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6733" y="3971925"/>
            <a:ext cx="2476438" cy="2857500"/>
          </a:xfrm>
          <a:prstGeom prst="roundRect">
            <a:avLst>
              <a:gd name="adj" fmla="val 6153"/>
            </a:avLst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 Same Side Corner Rectangle 19"/>
          <p:cNvSpPr/>
          <p:nvPr/>
        </p:nvSpPr>
        <p:spPr>
          <a:xfrm rot="16200000">
            <a:off x="-712487" y="5351145"/>
            <a:ext cx="2857500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4A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81050" y="4409582"/>
            <a:ext cx="342891" cy="28673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466813" y="4257675"/>
            <a:ext cx="1390615" cy="59054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Source Sans Pro"/>
              </a:rPr>
              <a:t>Operational Capital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1050" y="5181599"/>
            <a:ext cx="1876378" cy="609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4160"/>
              </a:lnSpc>
              <a:spcBef>
                <a:spcPts val="975"/>
              </a:spcBef>
              <a:spcAft>
                <a:spcPts val="975"/>
              </a:spcAft>
            </a:pPr>
            <a:r>
              <a:rPr sz="3827" b="1">
                <a:solidFill>
                  <a:srgbClr val="D4A76A"/>
                </a:solidFill>
                <a:latin typeface="Source Sans Pro"/>
              </a:rPr>
              <a:t>60%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1050" y="5934075"/>
            <a:ext cx="1876378" cy="7239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1625"/>
              </a:spcAft>
            </a:pPr>
            <a:r>
              <a:rPr sz="1076" b="0">
                <a:solidFill>
                  <a:srgbClr val="B0B0C0"/>
                </a:solidFill>
                <a:latin typeface="Source Sans Pro"/>
              </a:rPr>
              <a:t>Deployed into high-velocity global growth initiatives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81050" y="7008495"/>
            <a:ext cx="228594" cy="194309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323941" y="6886575"/>
            <a:ext cx="1533486" cy="43814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Source Sans Pro"/>
              </a:rPr>
              <a:t>Global Inventory Network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81050" y="7603807"/>
            <a:ext cx="228594" cy="165734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323941" y="7467599"/>
            <a:ext cx="1533486" cy="43814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Source Sans Pro"/>
              </a:rPr>
              <a:t>International Marketing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981050" y="8210549"/>
            <a:ext cx="228594" cy="1143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323941" y="8048624"/>
            <a:ext cx="1533486" cy="43814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Source Sans Pro"/>
              </a:rPr>
              <a:t>Cross-border Blockchain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333666" y="3971925"/>
            <a:ext cx="2476438" cy="2857500"/>
          </a:xfrm>
          <a:prstGeom prst="roundRect">
            <a:avLst>
              <a:gd name="adj" fmla="val 6153"/>
            </a:avLst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 Same Side Corner Rectangle 31"/>
          <p:cNvSpPr/>
          <p:nvPr/>
        </p:nvSpPr>
        <p:spPr>
          <a:xfrm rot="16200000">
            <a:off x="1954446" y="5351145"/>
            <a:ext cx="2857500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4A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47983" y="4269499"/>
            <a:ext cx="342891" cy="319251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4133746" y="4276725"/>
            <a:ext cx="1228694" cy="2952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Source Sans Pro"/>
              </a:rPr>
              <a:t>Iron Reserve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47983" y="4933950"/>
            <a:ext cx="1876378" cy="609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4160"/>
              </a:lnSpc>
              <a:spcBef>
                <a:spcPts val="975"/>
              </a:spcBef>
              <a:spcAft>
                <a:spcPts val="975"/>
              </a:spcAft>
            </a:pPr>
            <a:r>
              <a:rPr sz="3827" b="1">
                <a:solidFill>
                  <a:srgbClr val="D4A76A"/>
                </a:solidFill>
                <a:latin typeface="Source Sans Pro"/>
              </a:rPr>
              <a:t>40%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47983" y="5686425"/>
            <a:ext cx="1876378" cy="47624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1625"/>
              </a:spcAft>
            </a:pPr>
            <a:r>
              <a:rPr sz="1076" b="0">
                <a:solidFill>
                  <a:srgbClr val="B0B0C0"/>
                </a:solidFill>
                <a:latin typeface="Source Sans Pro"/>
              </a:rPr>
              <a:t>Strategic reserve for global financial resilience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47983" y="6517005"/>
            <a:ext cx="228594" cy="205739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3990875" y="6400800"/>
            <a:ext cx="1533486" cy="43814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Source Sans Pro"/>
              </a:rPr>
              <a:t>Multi-currency Deposits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647983" y="7132319"/>
            <a:ext cx="228594" cy="137159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3990875" y="6981824"/>
            <a:ext cx="1533486" cy="43814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Source Sans Pro"/>
              </a:rPr>
              <a:t>International Instruments</a:t>
            </a:r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3647983" y="7584281"/>
            <a:ext cx="228594" cy="185737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3990875" y="7562849"/>
            <a:ext cx="1304892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Source Sans Pro"/>
              </a:rPr>
              <a:t>Global Safety Nets</a:t>
            </a:r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6381590" y="1222927"/>
            <a:ext cx="266693" cy="144945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6381590" y="1581149"/>
            <a:ext cx="5143371" cy="2667000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6381590" y="4715289"/>
            <a:ext cx="266693" cy="208721"/>
          </a:xfrm>
          <a:prstGeom prst="rect">
            <a:avLst/>
          </a:prstGeom>
        </p:spPr>
      </p:pic>
      <p:sp>
        <p:nvSpPr>
          <p:cNvPr id="46" name="Rounded Rectangle 45"/>
          <p:cNvSpPr/>
          <p:nvPr/>
        </p:nvSpPr>
        <p:spPr>
          <a:xfrm>
            <a:off x="6429214" y="5114925"/>
            <a:ext cx="1619209" cy="1904999"/>
          </a:xfrm>
          <a:prstGeom prst="roundRect">
            <a:avLst>
              <a:gd name="adj" fmla="val 9411"/>
            </a:avLst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 Same Side Corner Rectangle 46"/>
          <p:cNvSpPr/>
          <p:nvPr/>
        </p:nvSpPr>
        <p:spPr>
          <a:xfrm rot="16200000">
            <a:off x="5526245" y="6017894"/>
            <a:ext cx="1904999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4A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648283" y="5305425"/>
            <a:ext cx="1209644" cy="65722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076" b="1">
                <a:solidFill>
                  <a:srgbClr val="D4A76A"/>
                </a:solidFill>
                <a:latin typeface="Source Sans Pro"/>
              </a:rPr>
              <a:t> </a:t>
            </a:r>
            <a:r>
              <a:rPr sz="1104"/>
              <a:t>  </a:t>
            </a:r>
            <a:r>
              <a:rPr sz="1076" b="1">
                <a:solidFill>
                  <a:srgbClr val="D4A76A"/>
                </a:solidFill>
                <a:latin typeface="Source Sans Pro"/>
              </a:rPr>
              <a:t> Primary Banking Partner </a:t>
            </a:r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6648283" y="5553355"/>
            <a:ext cx="190495" cy="170889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6648283" y="6057900"/>
            <a:ext cx="1209644" cy="3809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913" b="1">
                <a:solidFill>
                  <a:srgbClr val="FFFFFF"/>
                </a:solidFill>
                <a:latin typeface="Source Sans Pro"/>
              </a:rPr>
              <a:t>Kotak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48283" y="6486525"/>
            <a:ext cx="1209644" cy="3429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B0B0C0"/>
                </a:solidFill>
                <a:latin typeface="Source Sans Pro"/>
              </a:rPr>
              <a:t>International financial institution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143671" y="5114925"/>
            <a:ext cx="1619209" cy="1904999"/>
          </a:xfrm>
          <a:prstGeom prst="roundRect">
            <a:avLst>
              <a:gd name="adj" fmla="val 9411"/>
            </a:avLst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 Same Side Corner Rectangle 52"/>
          <p:cNvSpPr/>
          <p:nvPr/>
        </p:nvSpPr>
        <p:spPr>
          <a:xfrm rot="16200000">
            <a:off x="7240702" y="6017894"/>
            <a:ext cx="1904999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4A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362740" y="5305425"/>
            <a:ext cx="1209644" cy="43814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076" b="1">
                <a:solidFill>
                  <a:srgbClr val="D4A76A"/>
                </a:solidFill>
                <a:latin typeface="Source Sans Pro"/>
              </a:rPr>
              <a:t> </a:t>
            </a:r>
            <a:r>
              <a:rPr sz="1104"/>
              <a:t>  </a:t>
            </a:r>
            <a:r>
              <a:rPr sz="1076" b="1">
                <a:solidFill>
                  <a:srgbClr val="D4A76A"/>
                </a:solidFill>
                <a:latin typeface="Source Sans Pro"/>
              </a:rPr>
              <a:t> Quarterly Settlements </a:t>
            </a:r>
          </a:p>
        </p:txBody>
      </p:sp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8362740" y="5434852"/>
            <a:ext cx="190495" cy="179294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8362740" y="5838824"/>
            <a:ext cx="1209644" cy="3809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913" b="1">
                <a:solidFill>
                  <a:srgbClr val="FFFFFF"/>
                </a:solidFill>
                <a:latin typeface="Source Sans Pro"/>
              </a:rPr>
              <a:t>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62740" y="6267449"/>
            <a:ext cx="1209644" cy="3429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B0B0C0"/>
                </a:solidFill>
                <a:latin typeface="Source Sans Pro"/>
              </a:rPr>
              <a:t>Global financial reporting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858128" y="5114925"/>
            <a:ext cx="1619209" cy="1904999"/>
          </a:xfrm>
          <a:prstGeom prst="roundRect">
            <a:avLst>
              <a:gd name="adj" fmla="val 9411"/>
            </a:avLst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ound Same Side Corner Rectangle 58"/>
          <p:cNvSpPr/>
          <p:nvPr/>
        </p:nvSpPr>
        <p:spPr>
          <a:xfrm rot="16200000">
            <a:off x="8955159" y="6017894"/>
            <a:ext cx="1904999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4A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10077198" y="5305425"/>
            <a:ext cx="1209644" cy="43814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076" b="1">
                <a:solidFill>
                  <a:srgbClr val="D4A76A"/>
                </a:solidFill>
                <a:latin typeface="Source Sans Pro"/>
              </a:rPr>
              <a:t> </a:t>
            </a:r>
            <a:r>
              <a:rPr sz="1104"/>
              <a:t>  </a:t>
            </a:r>
            <a:r>
              <a:rPr sz="1076" b="1">
                <a:solidFill>
                  <a:srgbClr val="D4A76A"/>
                </a:solidFill>
                <a:latin typeface="Source Sans Pro"/>
              </a:rPr>
              <a:t> Current Balance </a:t>
            </a:r>
          </a:p>
        </p:txBody>
      </p:sp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10077198" y="5448860"/>
            <a:ext cx="190495" cy="151279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10077198" y="5838824"/>
            <a:ext cx="1209644" cy="3809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913" b="1">
                <a:solidFill>
                  <a:srgbClr val="FFFFFF"/>
                </a:solidFill>
                <a:latin typeface="Source Sans Pro"/>
              </a:rPr>
              <a:t>₹10.1 Cr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077198" y="6267449"/>
            <a:ext cx="1209644" cy="3429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B0B0C0"/>
                </a:solidFill>
                <a:latin typeface="Source Sans Pro"/>
              </a:rPr>
              <a:t>Strong global financial position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381590" y="7210424"/>
            <a:ext cx="5143371" cy="1333500"/>
          </a:xfrm>
          <a:prstGeom prst="roundRect">
            <a:avLst>
              <a:gd name="adj" fmla="val 11428"/>
            </a:avLst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ound Same Side Corner Rectangle 64"/>
          <p:cNvSpPr/>
          <p:nvPr/>
        </p:nvSpPr>
        <p:spPr>
          <a:xfrm rot="16200000">
            <a:off x="5764370" y="7827644"/>
            <a:ext cx="1333500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4A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6648283" y="7448549"/>
            <a:ext cx="4638559" cy="8572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Source Sans Pro"/>
              </a:rPr>
              <a:t>Day-wise global trade data is meticulously tracked and analyzed to optimize international investment decisions, with all transactions backed by established banking institutions for maximum security and compliance across markets.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381590" y="9020174"/>
            <a:ext cx="5143371" cy="2143125"/>
          </a:xfrm>
          <a:prstGeom prst="roundRect">
            <a:avLst>
              <a:gd name="adj" fmla="val 7111"/>
            </a:avLst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ound Same Side Corner Rectangle 67"/>
          <p:cNvSpPr/>
          <p:nvPr/>
        </p:nvSpPr>
        <p:spPr>
          <a:xfrm rot="16200000">
            <a:off x="5359558" y="10042206"/>
            <a:ext cx="2143125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4A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9" name="Picture 68" descr="image.png"/>
          <p:cNvPicPr>
            <a:picLocks noChangeAspect="1"/>
          </p:cNvPicPr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6600659" y="9234963"/>
            <a:ext cx="228594" cy="180022"/>
          </a:xfrm>
          <a:prstGeom prst="rect">
            <a:avLst/>
          </a:prstGeom>
        </p:spPr>
      </p:pic>
      <p:pic>
        <p:nvPicPr>
          <p:cNvPr id="70" name="Picture 69" descr="image.png"/>
          <p:cNvPicPr>
            <a:picLocks noChangeAspect="1"/>
          </p:cNvPicPr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6600659" y="10225855"/>
            <a:ext cx="171445" cy="160388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6848303" y="10115550"/>
            <a:ext cx="2076398" cy="3809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B0B0C0"/>
                </a:solidFill>
                <a:latin typeface="Source Sans Pro"/>
              </a:rPr>
              <a:t>International governance on reserves</a:t>
            </a:r>
          </a:p>
        </p:txBody>
      </p:sp>
      <p:pic>
        <p:nvPicPr>
          <p:cNvPr id="72" name="Picture 71" descr="image.png"/>
          <p:cNvPicPr>
            <a:picLocks noChangeAspect="1"/>
          </p:cNvPicPr>
          <p:nvPr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9010424" y="10236916"/>
            <a:ext cx="171445" cy="138266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9258068" y="10115550"/>
            <a:ext cx="2076398" cy="3809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B0B0C0"/>
                </a:solidFill>
                <a:latin typeface="Source Sans Pro"/>
              </a:rPr>
              <a:t>Global treasury review &amp; reporting</a:t>
            </a:r>
          </a:p>
        </p:txBody>
      </p:sp>
      <p:pic>
        <p:nvPicPr>
          <p:cNvPr id="74" name="Picture 73" descr="image.png"/>
          <p:cNvPicPr>
            <a:picLocks noChangeAspect="1"/>
          </p:cNvPicPr>
          <p:nvPr/>
        </p:nvPicPr>
        <p:blipFill>
          <a:blip r:embed="rId22">
            <a:alphaModFix/>
          </a:blip>
          <a:stretch>
            <a:fillRect/>
          </a:stretch>
        </p:blipFill>
        <p:spPr>
          <a:xfrm>
            <a:off x="6600659" y="10707636"/>
            <a:ext cx="171445" cy="149327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6848303" y="10591799"/>
            <a:ext cx="2076398" cy="3809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B0B0C0"/>
                </a:solidFill>
                <a:latin typeface="Source Sans Pro"/>
              </a:rPr>
              <a:t>Board-approved international policy</a:t>
            </a:r>
          </a:p>
        </p:txBody>
      </p:sp>
      <p:pic>
        <p:nvPicPr>
          <p:cNvPr id="76" name="Picture 75" descr="image.png"/>
          <p:cNvPicPr>
            <a:picLocks noChangeAspect="1"/>
          </p:cNvPicPr>
          <p:nvPr/>
        </p:nvPicPr>
        <p:blipFill>
          <a:blip r:embed="rId23">
            <a:alphaModFix/>
          </a:blip>
          <a:stretch>
            <a:fillRect/>
          </a:stretch>
        </p:blipFill>
        <p:spPr>
          <a:xfrm>
            <a:off x="9010424" y="10724228"/>
            <a:ext cx="171445" cy="116143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9258068" y="10591799"/>
            <a:ext cx="2076398" cy="3809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B0B0C0"/>
                </a:solidFill>
                <a:latin typeface="Source Sans Pro"/>
              </a:rPr>
              <a:t>Full transparency on global funds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0" y="11229975"/>
            <a:ext cx="12191695" cy="1714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D4A76A"/>
                </a:solidFill>
                <a:latin typeface="Source Sans Pro"/>
              </a:rPr>
              <a:t>© 2026 Brave Ecom Pvt Ltd. All Rights Reserved.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2121C">
                <a:alpha val="95000"/>
              </a:srgbClr>
            </a:gs>
            <a:gs pos="100000">
              <a:srgbClr val="1A1A26">
                <a:alpha val="90000"/>
              </a:srgbClr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6198" cy="10944225"/>
          </a:xfrm>
          <a:prstGeom prst="rect">
            <a:avLst/>
          </a:prstGeom>
          <a:solidFill>
            <a:srgbClr val="D4A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12191695" cy="10944225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9753356" y="190499"/>
            <a:ext cx="1771605" cy="380999"/>
          </a:xfrm>
          <a:prstGeom prst="roundRect">
            <a:avLst>
              <a:gd name="adj" fmla="val 100000"/>
            </a:avLst>
          </a:prstGeom>
          <a:solidFill>
            <a:srgbClr val="D4A76A">
              <a:alpha val="20000"/>
            </a:srgbClr>
          </a:solidFill>
          <a:ln w="16510">
            <a:solidFill>
              <a:srgbClr val="D4A7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15277" y="299757"/>
            <a:ext cx="190495" cy="16248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181970" y="285750"/>
            <a:ext cx="1181070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Source Sans Pro"/>
              </a:rPr>
              <a:t>Global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6733" y="380999"/>
            <a:ext cx="9972425" cy="4762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392" b="1">
                <a:solidFill>
                  <a:srgbClr val="FFFFFF"/>
                </a:solidFill>
                <a:latin typeface="Source Sans Pro"/>
              </a:rPr>
              <a:t>Corporate Governance: The 'People-First' Framework</a:t>
            </a:r>
          </a:p>
        </p:txBody>
      </p:sp>
      <p:sp>
        <p:nvSpPr>
          <p:cNvPr id="8" name="Rectangle 7"/>
          <p:cNvSpPr/>
          <p:nvPr/>
        </p:nvSpPr>
        <p:spPr>
          <a:xfrm>
            <a:off x="10829654" y="476249"/>
            <a:ext cx="695307" cy="380999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6733" y="1211331"/>
            <a:ext cx="266693" cy="16813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66733" y="1581149"/>
            <a:ext cx="5143371" cy="2943225"/>
          </a:xfrm>
          <a:prstGeom prst="roundRect">
            <a:avLst>
              <a:gd name="adj" fmla="val 5177"/>
            </a:avLst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 Same Side Corner Rectangle 10"/>
          <p:cNvSpPr/>
          <p:nvPr/>
        </p:nvSpPr>
        <p:spPr>
          <a:xfrm rot="16200000">
            <a:off x="-755349" y="3003231"/>
            <a:ext cx="2943225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4A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85802" y="1771650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D4A76A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19149" y="1948961"/>
            <a:ext cx="304792" cy="21687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600159" y="1771650"/>
            <a:ext cx="4019449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076" b="1">
                <a:solidFill>
                  <a:srgbClr val="FFFFFF"/>
                </a:solidFill>
                <a:latin typeface="Source Sans Pro"/>
              </a:rPr>
              <a:t> Mr. Sanjay Patil </a:t>
            </a:r>
            <a:r>
              <a:rPr sz="837" b="1">
                <a:solidFill>
                  <a:srgbClr val="D4A76A"/>
                </a:solidFill>
                <a:latin typeface="Source Sans Pro"/>
              </a:rPr>
              <a:t>80% Equity</a:t>
            </a:r>
            <a:r>
              <a:rPr sz="1076" b="1">
                <a:solidFill>
                  <a:srgbClr val="FFFFFF"/>
                </a:solidFill>
                <a:latin typeface="Source Sans Pro"/>
              </a:rPr>
              <a:t> 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19329" y="1771650"/>
            <a:ext cx="800079" cy="209550"/>
          </a:xfrm>
          <a:prstGeom prst="roundRect">
            <a:avLst>
              <a:gd name="adj" fmla="val 36363"/>
            </a:avLst>
          </a:prstGeom>
          <a:solidFill>
            <a:srgbClr val="D4A76A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600159" y="2038349"/>
            <a:ext cx="4019449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956" b="0">
                <a:solidFill>
                  <a:srgbClr val="D4A76A"/>
                </a:solidFill>
                <a:latin typeface="Source Sans Pro"/>
              </a:rPr>
              <a:t>CEO &amp; MD | MCA Graduate, Mumbai University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600159" y="2354035"/>
            <a:ext cx="152396" cy="13062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828754" y="2324100"/>
            <a:ext cx="1581110" cy="1714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Source Sans Pro"/>
              </a:rPr>
              <a:t>Smooth business operations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600159" y="2573110"/>
            <a:ext cx="152396" cy="13062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828754" y="2543175"/>
            <a:ext cx="1847803" cy="1714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Source Sans Pro"/>
              </a:rPr>
              <a:t>Maintaining business compliance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600159" y="2792185"/>
            <a:ext cx="152396" cy="13062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828754" y="2762249"/>
            <a:ext cx="2247843" cy="1714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Source Sans Pro"/>
              </a:rPr>
              <a:t>Authorized signatory for major decisions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5802" y="3124200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D4A76A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19149" y="3301511"/>
            <a:ext cx="304792" cy="21687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600159" y="3124200"/>
            <a:ext cx="4019449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076" b="1">
                <a:solidFill>
                  <a:srgbClr val="FFFFFF"/>
                </a:solidFill>
                <a:latin typeface="Source Sans Pro"/>
              </a:rPr>
              <a:t> Mrs. Puja Patil </a:t>
            </a:r>
            <a:r>
              <a:rPr sz="837" b="1">
                <a:solidFill>
                  <a:srgbClr val="D4A76A"/>
                </a:solidFill>
                <a:latin typeface="Source Sans Pro"/>
              </a:rPr>
              <a:t>20% Equity</a:t>
            </a:r>
            <a:r>
              <a:rPr sz="1076" b="1">
                <a:solidFill>
                  <a:srgbClr val="FFFFFF"/>
                </a:solidFill>
                <a:latin typeface="Source Sans Pro"/>
              </a:rPr>
              <a:t> 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33606" y="3124200"/>
            <a:ext cx="800079" cy="209550"/>
          </a:xfrm>
          <a:prstGeom prst="roundRect">
            <a:avLst>
              <a:gd name="adj" fmla="val 36363"/>
            </a:avLst>
          </a:prstGeom>
          <a:solidFill>
            <a:srgbClr val="D4A76A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600159" y="3390899"/>
            <a:ext cx="4019449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956" b="0">
                <a:solidFill>
                  <a:srgbClr val="D4A76A"/>
                </a:solidFill>
                <a:latin typeface="Source Sans Pro"/>
              </a:rPr>
              <a:t>Co-founder | BE Engineer Graduate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600159" y="3706585"/>
            <a:ext cx="152396" cy="13062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828754" y="3676649"/>
            <a:ext cx="1209644" cy="1714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Source Sans Pro"/>
              </a:rPr>
              <a:t>Website development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600159" y="3925660"/>
            <a:ext cx="152396" cy="13062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828754" y="3895724"/>
            <a:ext cx="1609684" cy="1714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Source Sans Pro"/>
              </a:rPr>
              <a:t>Company promotion matters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600159" y="4144735"/>
            <a:ext cx="152396" cy="130628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828754" y="4114800"/>
            <a:ext cx="1895427" cy="1714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Source Sans Pro"/>
              </a:rPr>
              <a:t>Client profit timely disbursements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66733" y="4929394"/>
            <a:ext cx="266693" cy="237710"/>
          </a:xfrm>
          <a:prstGeom prst="rect">
            <a:avLst/>
          </a:prstGeom>
        </p:spPr>
      </p:pic>
      <p:sp>
        <p:nvSpPr>
          <p:cNvPr id="35" name="Rounded Rectangle 34"/>
          <p:cNvSpPr/>
          <p:nvPr/>
        </p:nvSpPr>
        <p:spPr>
          <a:xfrm>
            <a:off x="666733" y="5343525"/>
            <a:ext cx="5143371" cy="2095499"/>
          </a:xfrm>
          <a:prstGeom prst="roundRect">
            <a:avLst>
              <a:gd name="adj" fmla="val 7272"/>
            </a:avLst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 Same Side Corner Rectangle 35"/>
          <p:cNvSpPr/>
          <p:nvPr/>
        </p:nvSpPr>
        <p:spPr>
          <a:xfrm rot="16200000">
            <a:off x="-331486" y="6341744"/>
            <a:ext cx="2095499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4A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85802" y="5542721"/>
            <a:ext cx="266693" cy="249306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247743" y="5543550"/>
            <a:ext cx="2333566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Source Sans Pro"/>
              </a:rPr>
              <a:t>Zero-Non-Compliance Policy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5802" y="5943600"/>
            <a:ext cx="4733806" cy="63817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975"/>
              </a:spcAft>
            </a:pPr>
            <a:r>
              <a:rPr sz="956" b="0">
                <a:solidFill>
                  <a:srgbClr val="B0B0C0"/>
                </a:solidFill>
                <a:latin typeface="Source Sans Pro"/>
              </a:rPr>
              <a:t>Brave Ecom operates with a "Zero-Non-Compliance" policy regarding the Indian Companies Act, 2013. We do not view labor laws as a burden, but as a retention engine.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885802" y="6754761"/>
            <a:ext cx="171445" cy="149327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133446" y="6724649"/>
            <a:ext cx="1924001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Source Sans Pro"/>
              </a:rPr>
              <a:t>Provident Fund (PF) &amp; Gratuity</a:t>
            </a: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324141" y="6754761"/>
            <a:ext cx="171445" cy="149327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3571785" y="6724649"/>
            <a:ext cx="1590635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Source Sans Pro"/>
              </a:rPr>
              <a:t>Medical &amp; Insurance (ESI)</a:t>
            </a:r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885802" y="7088136"/>
            <a:ext cx="171445" cy="149327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1133446" y="7058025"/>
            <a:ext cx="1943051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Source Sans Pro"/>
              </a:rPr>
              <a:t>100% compliance with EPF Act</a:t>
            </a:r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324141" y="7088136"/>
            <a:ext cx="171445" cy="149327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3571785" y="7058025"/>
            <a:ext cx="2038299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Source Sans Pro"/>
              </a:rPr>
              <a:t>Comprehensive health coverage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66733" y="7820024"/>
            <a:ext cx="5143371" cy="2143125"/>
          </a:xfrm>
          <a:prstGeom prst="roundRect">
            <a:avLst>
              <a:gd name="adj" fmla="val 7111"/>
            </a:avLst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 Same Side Corner Rectangle 48"/>
          <p:cNvSpPr/>
          <p:nvPr/>
        </p:nvSpPr>
        <p:spPr>
          <a:xfrm rot="16200000">
            <a:off x="-355299" y="8842056"/>
            <a:ext cx="2143125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4A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85802" y="8315325"/>
            <a:ext cx="2485962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076" b="1">
                <a:solidFill>
                  <a:srgbClr val="D4A76A"/>
                </a:solidFill>
                <a:latin typeface="Source Sans Pro"/>
              </a:rPr>
              <a:t>Human Capital Advantage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5802" y="8610600"/>
            <a:ext cx="2485962" cy="8572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B0B0C0"/>
                </a:solidFill>
                <a:latin typeface="Source Sans Pro"/>
              </a:rPr>
              <a:t>Our strategy reduces turnover significantly, fostering a stable, motivated workforce that drives sustainable growth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924201" y="8324849"/>
            <a:ext cx="1142971" cy="1143000"/>
          </a:xfrm>
          <a:prstGeom prst="roundRect">
            <a:avLst>
              <a:gd name="adj" fmla="val 50000"/>
            </a:avLst>
          </a:prstGeom>
          <a:solidFill>
            <a:srgbClr val="D4A76A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3371765" y="8010524"/>
            <a:ext cx="2247843" cy="15239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5200"/>
              </a:lnSpc>
              <a:spcBef>
                <a:spcPts val="0"/>
              </a:spcBef>
              <a:spcAft>
                <a:spcPts val="0"/>
              </a:spcAft>
            </a:pPr>
            <a:r>
              <a:rPr sz="4784" b="1">
                <a:solidFill>
                  <a:srgbClr val="D4A76A"/>
                </a:solidFill>
                <a:latin typeface="Source Sans Pro"/>
              </a:rPr>
              <a:t>30-40%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752756" y="9582150"/>
            <a:ext cx="1495387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325"/>
              </a:spcBef>
              <a:spcAft>
                <a:spcPts val="0"/>
              </a:spcAft>
            </a:pPr>
            <a:r>
              <a:rPr sz="956" b="0">
                <a:solidFill>
                  <a:srgbClr val="B0B0C0"/>
                </a:solidFill>
                <a:latin typeface="Source Sans Pro"/>
              </a:rPr>
              <a:t>Below Industry Average</a:t>
            </a:r>
          </a:p>
        </p:txBody>
      </p:sp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381590" y="1222927"/>
            <a:ext cx="266693" cy="144945"/>
          </a:xfrm>
          <a:prstGeom prst="rect">
            <a:avLst/>
          </a:prstGeom>
        </p:spPr>
      </p:pic>
      <p:sp>
        <p:nvSpPr>
          <p:cNvPr id="56" name="Rounded Rectangle 55"/>
          <p:cNvSpPr/>
          <p:nvPr/>
        </p:nvSpPr>
        <p:spPr>
          <a:xfrm>
            <a:off x="6381590" y="1581149"/>
            <a:ext cx="5143371" cy="1828800"/>
          </a:xfrm>
          <a:prstGeom prst="roundRect">
            <a:avLst>
              <a:gd name="adj" fmla="val 8333"/>
            </a:avLst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 Same Side Corner Rectangle 56"/>
          <p:cNvSpPr/>
          <p:nvPr/>
        </p:nvSpPr>
        <p:spPr>
          <a:xfrm rot="16200000">
            <a:off x="5516720" y="2446019"/>
            <a:ext cx="1828800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4A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600659" y="1771650"/>
            <a:ext cx="4733806" cy="42862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975"/>
              </a:spcAft>
            </a:pPr>
            <a:r>
              <a:rPr sz="956" b="0">
                <a:solidFill>
                  <a:srgbClr val="B0B0C0"/>
                </a:solidFill>
                <a:latin typeface="Source Sans Pro"/>
              </a:rPr>
              <a:t>Our BDM team develops the business and attracts domestic and international clients using customized strategies tailored to market needs.</a:t>
            </a:r>
          </a:p>
        </p:txBody>
      </p:sp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600659" y="2373085"/>
            <a:ext cx="152396" cy="130628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6829254" y="2343150"/>
            <a:ext cx="1952576" cy="1714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Source Sans Pro"/>
              </a:rPr>
              <a:t>Develop business growth strategies</a:t>
            </a:r>
          </a:p>
        </p:txBody>
      </p:sp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600659" y="2592160"/>
            <a:ext cx="152396" cy="130628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6829254" y="2562224"/>
            <a:ext cx="2295467" cy="1714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Source Sans Pro"/>
              </a:rPr>
              <a:t>Attract domestic and international clients</a:t>
            </a:r>
          </a:p>
        </p:txBody>
      </p:sp>
      <p:pic>
        <p:nvPicPr>
          <p:cNvPr id="63" name="Picture 62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600659" y="2811235"/>
            <a:ext cx="152396" cy="130628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6829254" y="2781300"/>
            <a:ext cx="2314517" cy="1714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Source Sans Pro"/>
              </a:rPr>
              <a:t>Customized client acquisition approaches</a:t>
            </a:r>
          </a:p>
        </p:txBody>
      </p:sp>
      <p:pic>
        <p:nvPicPr>
          <p:cNvPr id="65" name="Picture 64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600659" y="3030310"/>
            <a:ext cx="152396" cy="130628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6829254" y="3000375"/>
            <a:ext cx="2295467" cy="1714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Source Sans Pro"/>
              </a:rPr>
              <a:t>Market research and competitive analysis</a:t>
            </a:r>
          </a:p>
        </p:txBody>
      </p:sp>
      <p:pic>
        <p:nvPicPr>
          <p:cNvPr id="67" name="Picture 66" descr="image.png"/>
          <p:cNvPicPr>
            <a:picLocks noChangeAspect="1"/>
          </p:cNvPicPr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6381590" y="3809171"/>
            <a:ext cx="266693" cy="249306"/>
          </a:xfrm>
          <a:prstGeom prst="rect">
            <a:avLst/>
          </a:prstGeom>
        </p:spPr>
      </p:pic>
      <p:sp>
        <p:nvSpPr>
          <p:cNvPr id="68" name="Rounded Rectangle 67"/>
          <p:cNvSpPr/>
          <p:nvPr/>
        </p:nvSpPr>
        <p:spPr>
          <a:xfrm>
            <a:off x="6381590" y="4229100"/>
            <a:ext cx="2466913" cy="1552574"/>
          </a:xfrm>
          <a:prstGeom prst="roundRect">
            <a:avLst>
              <a:gd name="adj" fmla="val 9815"/>
            </a:avLst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ound Same Side Corner Rectangle 68"/>
          <p:cNvSpPr/>
          <p:nvPr/>
        </p:nvSpPr>
        <p:spPr>
          <a:xfrm rot="16200000">
            <a:off x="5654833" y="4955857"/>
            <a:ext cx="1552574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4A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0" name="Picture 69" descr="image.png"/>
          <p:cNvPicPr>
            <a:picLocks noChangeAspect="1"/>
          </p:cNvPicPr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6553036" y="4380767"/>
            <a:ext cx="304792" cy="287215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6553036" y="4772025"/>
            <a:ext cx="2152596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076" b="1">
                <a:solidFill>
                  <a:srgbClr val="FFFFFF"/>
                </a:solidFill>
                <a:latin typeface="Source Sans Pro"/>
              </a:rPr>
              <a:t>Limited Liability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553036" y="5067299"/>
            <a:ext cx="2152596" cy="5715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B0B0C0"/>
                </a:solidFill>
                <a:latin typeface="Source Sans Pro"/>
              </a:rPr>
              <a:t>Personal assets of directors and shareholders are legally shielded from business liabilities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9058048" y="4229100"/>
            <a:ext cx="2466913" cy="1552574"/>
          </a:xfrm>
          <a:prstGeom prst="roundRect">
            <a:avLst>
              <a:gd name="adj" fmla="val 9815"/>
            </a:avLst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ound Same Side Corner Rectangle 73"/>
          <p:cNvSpPr/>
          <p:nvPr/>
        </p:nvSpPr>
        <p:spPr>
          <a:xfrm rot="16200000">
            <a:off x="8331291" y="4955857"/>
            <a:ext cx="1552574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4A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5" name="Picture 74" descr="image.png"/>
          <p:cNvPicPr>
            <a:picLocks noChangeAspect="1"/>
          </p:cNvPicPr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9229494" y="4424728"/>
            <a:ext cx="304792" cy="199292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9229494" y="4772025"/>
            <a:ext cx="2152596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076" b="1">
                <a:solidFill>
                  <a:srgbClr val="FFFFFF"/>
                </a:solidFill>
                <a:latin typeface="Source Sans Pro"/>
              </a:rPr>
              <a:t>Audited Transparency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229494" y="5067299"/>
            <a:ext cx="2152596" cy="5715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B0B0C0"/>
                </a:solidFill>
                <a:latin typeface="Source Sans Pro"/>
              </a:rPr>
              <a:t>Quarterly internal audits and annual statutory audits by reputable Chartered Accountants</a:t>
            </a:r>
          </a:p>
        </p:txBody>
      </p:sp>
      <p:pic>
        <p:nvPicPr>
          <p:cNvPr id="78" name="Picture 77" descr="image.png"/>
          <p:cNvPicPr>
            <a:picLocks noChangeAspect="1"/>
          </p:cNvPicPr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6381590" y="6209885"/>
            <a:ext cx="266693" cy="191328"/>
          </a:xfrm>
          <a:prstGeom prst="rect">
            <a:avLst/>
          </a:prstGeom>
        </p:spPr>
      </p:pic>
      <p:sp>
        <p:nvSpPr>
          <p:cNvPr id="79" name="Rounded Rectangle 78"/>
          <p:cNvSpPr/>
          <p:nvPr/>
        </p:nvSpPr>
        <p:spPr>
          <a:xfrm>
            <a:off x="6381590" y="6600825"/>
            <a:ext cx="5143371" cy="3581400"/>
          </a:xfrm>
          <a:prstGeom prst="roundRect">
            <a:avLst>
              <a:gd name="adj" fmla="val 4255"/>
            </a:avLst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ound Same Side Corner Rectangle 79"/>
          <p:cNvSpPr/>
          <p:nvPr/>
        </p:nvSpPr>
        <p:spPr>
          <a:xfrm rot="16200000">
            <a:off x="4640420" y="8341995"/>
            <a:ext cx="3581400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4A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1" name="Picture 80" descr="image.png"/>
          <p:cNvPicPr>
            <a:picLocks noChangeAspect="1"/>
          </p:cNvPicPr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6600659" y="6802755"/>
            <a:ext cx="228594" cy="205739"/>
          </a:xfrm>
          <a:prstGeom prst="rect">
            <a:avLst/>
          </a:prstGeom>
        </p:spPr>
      </p:pic>
      <p:sp>
        <p:nvSpPr>
          <p:cNvPr id="82" name="Rounded Rectangle 81"/>
          <p:cNvSpPr/>
          <p:nvPr/>
        </p:nvSpPr>
        <p:spPr>
          <a:xfrm>
            <a:off x="6600659" y="7172325"/>
            <a:ext cx="2295467" cy="685800"/>
          </a:xfrm>
          <a:prstGeom prst="roundRect">
            <a:avLst>
              <a:gd name="adj" fmla="val 16666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6714957" y="7286625"/>
            <a:ext cx="2066873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956" b="1">
                <a:solidFill>
                  <a:srgbClr val="D4A76A"/>
                </a:solidFill>
                <a:latin typeface="Source Sans Pro"/>
              </a:rPr>
              <a:t>Legal Framework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714957" y="7524749"/>
            <a:ext cx="2066873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Source Sans Pro"/>
              </a:rPr>
              <a:t>Section 62(1)(b)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9038999" y="7172325"/>
            <a:ext cx="2295467" cy="685800"/>
          </a:xfrm>
          <a:prstGeom prst="roundRect">
            <a:avLst>
              <a:gd name="adj" fmla="val 16666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9153296" y="7286625"/>
            <a:ext cx="2066873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956" b="1">
                <a:solidFill>
                  <a:srgbClr val="D4A76A"/>
                </a:solidFill>
                <a:latin typeface="Source Sans Pro"/>
              </a:rPr>
              <a:t>Minimum Vesting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153296" y="7524749"/>
            <a:ext cx="2066873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Source Sans Pro"/>
              </a:rPr>
              <a:t>1 Year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6600659" y="8001000"/>
            <a:ext cx="2295467" cy="685800"/>
          </a:xfrm>
          <a:prstGeom prst="roundRect">
            <a:avLst>
              <a:gd name="adj" fmla="val 16666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6714957" y="8115300"/>
            <a:ext cx="2066873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956" b="1">
                <a:solidFill>
                  <a:srgbClr val="D4A76A"/>
                </a:solidFill>
                <a:latin typeface="Source Sans Pro"/>
              </a:rPr>
              <a:t>Tax Treatment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714957" y="8353424"/>
            <a:ext cx="2066873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Source Sans Pro"/>
              </a:rPr>
              <a:t>Perquisite + CG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9038999" y="8001000"/>
            <a:ext cx="2295467" cy="685800"/>
          </a:xfrm>
          <a:prstGeom prst="roundRect">
            <a:avLst>
              <a:gd name="adj" fmla="val 16666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9153296" y="8115300"/>
            <a:ext cx="2066873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956" b="1">
                <a:solidFill>
                  <a:srgbClr val="D4A76A"/>
                </a:solidFill>
                <a:latin typeface="Source Sans Pro"/>
              </a:rPr>
              <a:t>Board Approval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153296" y="8353424"/>
            <a:ext cx="2066873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Source Sans Pro"/>
              </a:rPr>
              <a:t>Required</a:t>
            </a:r>
          </a:p>
        </p:txBody>
      </p:sp>
      <p:pic>
        <p:nvPicPr>
          <p:cNvPr id="94" name="Picture 93" descr="image.png"/>
          <p:cNvPicPr>
            <a:picLocks noChangeAspect="1"/>
          </p:cNvPicPr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6600659" y="8881109"/>
            <a:ext cx="228594" cy="125729"/>
          </a:xfrm>
          <a:prstGeom prst="rect">
            <a:avLst/>
          </a:prstGeom>
        </p:spPr>
      </p:pic>
      <p:sp>
        <p:nvSpPr>
          <p:cNvPr id="95" name="TextBox 94"/>
          <p:cNvSpPr txBox="1"/>
          <p:nvPr/>
        </p:nvSpPr>
        <p:spPr>
          <a:xfrm>
            <a:off x="6600659" y="9210675"/>
            <a:ext cx="4733806" cy="63817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975"/>
              </a:spcAft>
            </a:pPr>
            <a:r>
              <a:rPr sz="956" b="0">
                <a:solidFill>
                  <a:srgbClr val="B0B0C0"/>
                </a:solidFill>
                <a:latin typeface="Source Sans Pro"/>
              </a:rPr>
              <a:t>This transforms employees into "intrapreneurs." They don't just work for a salary; they work for equity appreciation, driving them to minimize friction and maximize profit just like the founders.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0" y="10629900"/>
            <a:ext cx="12191695" cy="1714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D4A76A"/>
                </a:solidFill>
                <a:latin typeface="Source Sans Pro"/>
              </a:rPr>
              <a:t>© 2026 Brave Ecom Pvt Ltd. All Rights Reserved.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2121C">
                <a:alpha val="95000"/>
              </a:srgbClr>
            </a:gs>
            <a:gs pos="100000">
              <a:srgbClr val="1A1A26">
                <a:alpha val="90000"/>
              </a:srgbClr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6198" cy="9353550"/>
          </a:xfrm>
          <a:prstGeom prst="rect">
            <a:avLst/>
          </a:prstGeom>
          <a:solidFill>
            <a:srgbClr val="D4A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12191695" cy="935355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9753356" y="190499"/>
            <a:ext cx="1771605" cy="380999"/>
          </a:xfrm>
          <a:prstGeom prst="roundRect">
            <a:avLst>
              <a:gd name="adj" fmla="val 100000"/>
            </a:avLst>
          </a:prstGeom>
          <a:solidFill>
            <a:srgbClr val="D4A76A">
              <a:alpha val="20000"/>
            </a:srgbClr>
          </a:solidFill>
          <a:ln w="16510">
            <a:solidFill>
              <a:srgbClr val="D4A7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15277" y="299757"/>
            <a:ext cx="190495" cy="16248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181970" y="285750"/>
            <a:ext cx="1181070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Source Sans Pro"/>
              </a:rPr>
              <a:t>Global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6733" y="380999"/>
            <a:ext cx="9972425" cy="4762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392" b="1">
                <a:solidFill>
                  <a:srgbClr val="FFFFFF"/>
                </a:solidFill>
                <a:latin typeface="Source Sans Pro"/>
              </a:rPr>
              <a:t>3-Year Global Growth Roadmap to IPO</a:t>
            </a:r>
          </a:p>
        </p:txBody>
      </p:sp>
      <p:sp>
        <p:nvSpPr>
          <p:cNvPr id="8" name="Rectangle 7"/>
          <p:cNvSpPr/>
          <p:nvPr/>
        </p:nvSpPr>
        <p:spPr>
          <a:xfrm>
            <a:off x="10829654" y="476249"/>
            <a:ext cx="695307" cy="380999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66733" y="1143000"/>
            <a:ext cx="3476538" cy="4076699"/>
          </a:xfrm>
          <a:prstGeom prst="roundRect">
            <a:avLst>
              <a:gd name="adj" fmla="val 4383"/>
            </a:avLst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 Same Side Corner Rectangle 9"/>
          <p:cNvSpPr/>
          <p:nvPr/>
        </p:nvSpPr>
        <p:spPr>
          <a:xfrm rot="16200000">
            <a:off x="-1322086" y="3131819"/>
            <a:ext cx="4076699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4A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33426" y="1416294"/>
            <a:ext cx="304792" cy="23446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81090" y="1390650"/>
            <a:ext cx="600059" cy="2952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Source Sans Pro"/>
              </a:rPr>
              <a:t>Year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426" y="1876424"/>
            <a:ext cx="2971725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076" b="0">
                <a:solidFill>
                  <a:srgbClr val="D4A76A"/>
                </a:solidFill>
                <a:latin typeface="Source Sans Pro"/>
              </a:rPr>
              <a:t>Global Trust &amp; Traction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33426" y="2300007"/>
            <a:ext cx="190495" cy="16248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219169" y="2286000"/>
            <a:ext cx="1771605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Source Sans Pro"/>
              </a:rPr>
              <a:t>Validate Global Core Models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33426" y="2604807"/>
            <a:ext cx="190495" cy="16248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219169" y="2590799"/>
            <a:ext cx="1743031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Source Sans Pro"/>
              </a:rPr>
              <a:t>Cross Target ARR Threshold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33426" y="2909607"/>
            <a:ext cx="190495" cy="16248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219169" y="2895600"/>
            <a:ext cx="1819229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Source Sans Pro"/>
              </a:rPr>
              <a:t>Global Blockchain Validation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33426" y="3214407"/>
            <a:ext cx="190495" cy="16248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219169" y="3200400"/>
            <a:ext cx="1533486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Source Sans Pro"/>
              </a:rPr>
              <a:t>International Core Team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33426" y="3519207"/>
            <a:ext cx="190495" cy="16248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219169" y="3505199"/>
            <a:ext cx="1819229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Source Sans Pro"/>
              </a:rPr>
              <a:t>50+ Global Verified Suppliers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3426" y="4000500"/>
            <a:ext cx="2971725" cy="981074"/>
          </a:xfrm>
          <a:prstGeom prst="roundRect">
            <a:avLst>
              <a:gd name="adj" fmla="val 11650"/>
            </a:avLst>
          </a:prstGeom>
          <a:solidFill>
            <a:srgbClr val="D4A76A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76298" y="4143375"/>
            <a:ext cx="2685982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076" b="1">
                <a:solidFill>
                  <a:srgbClr val="D4A76A"/>
                </a:solidFill>
                <a:latin typeface="Source Sans Pro"/>
              </a:rPr>
              <a:t> </a:t>
            </a:r>
            <a:r>
              <a:rPr sz="1104"/>
              <a:t>  </a:t>
            </a:r>
            <a:r>
              <a:rPr sz="1076" b="1">
                <a:solidFill>
                  <a:srgbClr val="D4A76A"/>
                </a:solidFill>
                <a:latin typeface="Source Sans Pro"/>
              </a:rPr>
              <a:t> Global Seed Round 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76298" y="4162705"/>
            <a:ext cx="190495" cy="17088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076298" y="4457700"/>
            <a:ext cx="2685982" cy="3809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Source Sans Pro"/>
              </a:rPr>
              <a:t>Strategic Angel Investors with Global Retail-Tech expertise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62340" y="1143000"/>
            <a:ext cx="3476538" cy="4076699"/>
          </a:xfrm>
          <a:prstGeom prst="roundRect">
            <a:avLst>
              <a:gd name="adj" fmla="val 4383"/>
            </a:avLst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 Same Side Corner Rectangle 28"/>
          <p:cNvSpPr/>
          <p:nvPr/>
        </p:nvSpPr>
        <p:spPr>
          <a:xfrm rot="16200000">
            <a:off x="2373521" y="3131819"/>
            <a:ext cx="4076699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4A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629034" y="1416294"/>
            <a:ext cx="304792" cy="234461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076698" y="1390650"/>
            <a:ext cx="600059" cy="2952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Source Sans Pro"/>
              </a:rPr>
              <a:t>Year 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29034" y="1876424"/>
            <a:ext cx="2971725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076" b="0">
                <a:solidFill>
                  <a:srgbClr val="D4A76A"/>
                </a:solidFill>
                <a:latin typeface="Source Sans Pro"/>
              </a:rPr>
              <a:t>International Scale &amp; Structure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29034" y="2300007"/>
            <a:ext cx="190495" cy="162485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4914777" y="2286000"/>
            <a:ext cx="1743031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Source Sans Pro"/>
              </a:rPr>
              <a:t>3x Global Market Expansion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29034" y="2604807"/>
            <a:ext cx="190495" cy="162485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4914777" y="2590799"/>
            <a:ext cx="1733506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Source Sans Pro"/>
              </a:rPr>
              <a:t>10x International User Base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29034" y="2909607"/>
            <a:ext cx="190495" cy="162485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4914777" y="2895600"/>
            <a:ext cx="1838279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Source Sans Pro"/>
              </a:rPr>
              <a:t>Global Tier-1 VC Partnerships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29034" y="3214407"/>
            <a:ext cx="190495" cy="162485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4914777" y="3200400"/>
            <a:ext cx="1638259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Source Sans Pro"/>
              </a:rPr>
              <a:t>Global IPO-Ready Finance</a:t>
            </a:r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29034" y="3519207"/>
            <a:ext cx="190495" cy="162485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4914777" y="3505199"/>
            <a:ext cx="2038299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Source Sans Pro"/>
              </a:rPr>
              <a:t>International CFO &amp; Compliance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629034" y="4000500"/>
            <a:ext cx="2971725" cy="981074"/>
          </a:xfrm>
          <a:prstGeom prst="roundRect">
            <a:avLst>
              <a:gd name="adj" fmla="val 11650"/>
            </a:avLst>
          </a:prstGeom>
          <a:solidFill>
            <a:srgbClr val="D4A76A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771905" y="4143375"/>
            <a:ext cx="2685982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076" b="1">
                <a:solidFill>
                  <a:srgbClr val="D4A76A"/>
                </a:solidFill>
                <a:latin typeface="Source Sans Pro"/>
              </a:rPr>
              <a:t> </a:t>
            </a:r>
            <a:r>
              <a:rPr sz="1104"/>
              <a:t>  </a:t>
            </a:r>
            <a:r>
              <a:rPr sz="1076" b="1">
                <a:solidFill>
                  <a:srgbClr val="D4A76A"/>
                </a:solidFill>
                <a:latin typeface="Source Sans Pro"/>
              </a:rPr>
              <a:t> Global Series A Funding </a:t>
            </a:r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771905" y="4162705"/>
            <a:ext cx="190495" cy="170889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4771905" y="4457700"/>
            <a:ext cx="2685982" cy="3809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Source Sans Pro"/>
              </a:rPr>
              <a:t>Top-tier VCs specializing in International Retail-Tech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048423" y="1143000"/>
            <a:ext cx="3476538" cy="4076699"/>
          </a:xfrm>
          <a:prstGeom prst="roundRect">
            <a:avLst>
              <a:gd name="adj" fmla="val 4383"/>
            </a:avLst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 Same Side Corner Rectangle 47"/>
          <p:cNvSpPr/>
          <p:nvPr/>
        </p:nvSpPr>
        <p:spPr>
          <a:xfrm rot="16200000">
            <a:off x="6059604" y="3131819"/>
            <a:ext cx="4076699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4A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315117" y="1416294"/>
            <a:ext cx="304792" cy="234461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8762780" y="1390650"/>
            <a:ext cx="600059" cy="2952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Source Sans Pro"/>
              </a:rPr>
              <a:t>Year 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15117" y="1876424"/>
            <a:ext cx="2971725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076" b="0">
                <a:solidFill>
                  <a:srgbClr val="D4A76A"/>
                </a:solidFill>
                <a:latin typeface="Source Sans Pro"/>
              </a:rPr>
              <a:t>Global Pre-IPO Phase</a:t>
            </a:r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315117" y="2300007"/>
            <a:ext cx="190495" cy="162485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8600859" y="2286000"/>
            <a:ext cx="1638259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Source Sans Pro"/>
              </a:rPr>
              <a:t>Global Market Dominance</a:t>
            </a:r>
          </a:p>
        </p:txBody>
      </p:sp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315117" y="2604807"/>
            <a:ext cx="190495" cy="162485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8600859" y="2590799"/>
            <a:ext cx="1733506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Source Sans Pro"/>
              </a:rPr>
              <a:t>Strategic International M&amp;A</a:t>
            </a:r>
          </a:p>
        </p:txBody>
      </p:sp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315117" y="2909607"/>
            <a:ext cx="190495" cy="162485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8600859" y="2895600"/>
            <a:ext cx="1571585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Source Sans Pro"/>
              </a:rPr>
              <a:t>Global Entity Conversion</a:t>
            </a:r>
          </a:p>
        </p:txBody>
      </p:sp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315117" y="3214407"/>
            <a:ext cx="190495" cy="162485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8600859" y="3200400"/>
            <a:ext cx="1190595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Source Sans Pro"/>
              </a:rPr>
              <a:t>Global DRHP Filing</a:t>
            </a:r>
          </a:p>
        </p:txBody>
      </p:sp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315117" y="3519207"/>
            <a:ext cx="190495" cy="162485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8600859" y="3505199"/>
            <a:ext cx="1676358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Source Sans Pro"/>
              </a:rPr>
              <a:t>NSE Mainboard Global IPO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315117" y="4000500"/>
            <a:ext cx="2971725" cy="981074"/>
          </a:xfrm>
          <a:prstGeom prst="roundRect">
            <a:avLst>
              <a:gd name="adj" fmla="val 11650"/>
            </a:avLst>
          </a:prstGeom>
          <a:solidFill>
            <a:srgbClr val="D4A76A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457988" y="4143375"/>
            <a:ext cx="2685982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076" b="1">
                <a:solidFill>
                  <a:srgbClr val="D4A76A"/>
                </a:solidFill>
                <a:latin typeface="Source Sans Pro"/>
              </a:rPr>
              <a:t> </a:t>
            </a:r>
            <a:r>
              <a:rPr sz="1104"/>
              <a:t>  </a:t>
            </a:r>
            <a:r>
              <a:rPr sz="1076" b="1">
                <a:solidFill>
                  <a:srgbClr val="D4A76A"/>
                </a:solidFill>
                <a:latin typeface="Source Sans Pro"/>
              </a:rPr>
              <a:t> Global Series B / Growth Fund </a:t>
            </a:r>
          </a:p>
        </p:txBody>
      </p:sp>
      <p:pic>
        <p:nvPicPr>
          <p:cNvPr id="64" name="Picture 63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457988" y="4162705"/>
            <a:ext cx="190495" cy="170889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8457988" y="4457700"/>
            <a:ext cx="2685982" cy="3809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Source Sans Pro"/>
              </a:rPr>
              <a:t>International Capital for Worldwide Expansion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66733" y="5791200"/>
            <a:ext cx="10858228" cy="3181350"/>
          </a:xfrm>
          <a:prstGeom prst="roundRect">
            <a:avLst>
              <a:gd name="adj" fmla="val 4790"/>
            </a:avLst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ound Same Side Corner Rectangle 66"/>
          <p:cNvSpPr/>
          <p:nvPr/>
        </p:nvSpPr>
        <p:spPr>
          <a:xfrm rot="16200000">
            <a:off x="-874412" y="7332345"/>
            <a:ext cx="3181350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4A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8" name="Picture 67" descr="image.png"/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933426" y="6099727"/>
            <a:ext cx="266693" cy="144945"/>
          </a:xfrm>
          <a:prstGeom prst="rect">
            <a:avLst/>
          </a:prstGeom>
        </p:spPr>
      </p:pic>
      <p:sp>
        <p:nvSpPr>
          <p:cNvPr id="69" name="Rounded Rectangle 68"/>
          <p:cNvSpPr/>
          <p:nvPr/>
        </p:nvSpPr>
        <p:spPr>
          <a:xfrm>
            <a:off x="1933526" y="6515100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D4A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1933526" y="6515100"/>
            <a:ext cx="380990" cy="3809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975"/>
              </a:spcAft>
            </a:pPr>
            <a:r>
              <a:rPr sz="1196" b="1">
                <a:solidFill>
                  <a:srgbClr val="12121C"/>
                </a:solidFill>
                <a:latin typeface="Source Sans Pro"/>
              </a:rPr>
              <a:t>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33426" y="7038974"/>
            <a:ext cx="2381190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50"/>
              </a:spcAft>
            </a:pPr>
            <a:r>
              <a:rPr sz="1076" b="1">
                <a:solidFill>
                  <a:srgbClr val="FFFFFF"/>
                </a:solidFill>
                <a:latin typeface="Source Sans Pro"/>
              </a:rPr>
              <a:t>Global Pre-Filing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33426" y="7353299"/>
            <a:ext cx="2381190" cy="37147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B0B0C0"/>
                </a:solidFill>
                <a:latin typeface="Source Sans Pro"/>
              </a:rPr>
              <a:t>Appoint international intermediaries, conduct global due diligence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33426" y="7800975"/>
            <a:ext cx="2381190" cy="1714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520"/>
              </a:spcBef>
              <a:spcAft>
                <a:spcPts val="0"/>
              </a:spcAft>
            </a:pPr>
            <a:r>
              <a:rPr sz="837" b="1">
                <a:solidFill>
                  <a:srgbClr val="D4A76A"/>
                </a:solidFill>
                <a:latin typeface="Source Sans Pro"/>
              </a:rPr>
              <a:t>6-12 months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4590935" y="6515100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D4A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4590935" y="6515100"/>
            <a:ext cx="380990" cy="3809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975"/>
              </a:spcAft>
            </a:pPr>
            <a:r>
              <a:rPr sz="1196" b="1">
                <a:solidFill>
                  <a:srgbClr val="12121C"/>
                </a:solidFill>
                <a:latin typeface="Source Sans Pro"/>
              </a:rPr>
              <a:t>2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590835" y="7038974"/>
            <a:ext cx="2381190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50"/>
              </a:spcAft>
            </a:pPr>
            <a:r>
              <a:rPr sz="1076" b="1">
                <a:solidFill>
                  <a:srgbClr val="FFFFFF"/>
                </a:solidFill>
                <a:latin typeface="Source Sans Pro"/>
              </a:rPr>
              <a:t>DRHP Filing &amp; Review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590835" y="7353299"/>
            <a:ext cx="2381190" cy="37147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B0B0C0"/>
                </a:solidFill>
                <a:latin typeface="Source Sans Pro"/>
              </a:rPr>
              <a:t>SEBI reviews global operations and financials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590835" y="7800975"/>
            <a:ext cx="2381190" cy="1714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520"/>
              </a:spcBef>
              <a:spcAft>
                <a:spcPts val="0"/>
              </a:spcAft>
            </a:pPr>
            <a:r>
              <a:rPr sz="837" b="1">
                <a:solidFill>
                  <a:srgbClr val="D4A76A"/>
                </a:solidFill>
                <a:latin typeface="Source Sans Pro"/>
              </a:rPr>
              <a:t>30-45 days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7248343" y="6515100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D4A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7248343" y="6515100"/>
            <a:ext cx="380990" cy="3809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975"/>
              </a:spcAft>
            </a:pPr>
            <a:r>
              <a:rPr sz="1196" b="1">
                <a:solidFill>
                  <a:srgbClr val="12121C"/>
                </a:solidFill>
                <a:latin typeface="Source Sans Pro"/>
              </a:rPr>
              <a:t>3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248243" y="7038974"/>
            <a:ext cx="2381190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50"/>
              </a:spcAft>
            </a:pPr>
            <a:r>
              <a:rPr sz="1076" b="1">
                <a:solidFill>
                  <a:srgbClr val="FFFFFF"/>
                </a:solidFill>
                <a:latin typeface="Source Sans Pro"/>
              </a:rPr>
              <a:t>Global RHP &amp; Marketing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248243" y="7353299"/>
            <a:ext cx="2381190" cy="37147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B0B0C0"/>
                </a:solidFill>
                <a:latin typeface="Source Sans Pro"/>
              </a:rPr>
              <a:t>International roadshows, global investor presentations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248243" y="7800975"/>
            <a:ext cx="2381190" cy="1714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520"/>
              </a:spcBef>
              <a:spcAft>
                <a:spcPts val="0"/>
              </a:spcAft>
            </a:pPr>
            <a:r>
              <a:rPr sz="837" b="1">
                <a:solidFill>
                  <a:srgbClr val="D4A76A"/>
                </a:solidFill>
                <a:latin typeface="Source Sans Pro"/>
              </a:rPr>
              <a:t>21+ days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9905752" y="6515100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D4A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9905752" y="6515100"/>
            <a:ext cx="380990" cy="3809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975"/>
              </a:spcAft>
            </a:pPr>
            <a:r>
              <a:rPr sz="1196" b="1">
                <a:solidFill>
                  <a:srgbClr val="12121C"/>
                </a:solidFill>
                <a:latin typeface="Source Sans Pro"/>
              </a:rPr>
              <a:t>4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905652" y="7038974"/>
            <a:ext cx="2381190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50"/>
              </a:spcAft>
            </a:pPr>
            <a:r>
              <a:rPr sz="1076" b="1">
                <a:solidFill>
                  <a:srgbClr val="FFFFFF"/>
                </a:solidFill>
                <a:latin typeface="Source Sans Pro"/>
              </a:rPr>
              <a:t>Global Issue &amp; Listing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905652" y="7353299"/>
            <a:ext cx="2381190" cy="37147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B0B0C0"/>
                </a:solidFill>
                <a:latin typeface="Source Sans Pro"/>
              </a:rPr>
              <a:t>IPO opens to international investors, global listing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905652" y="7800975"/>
            <a:ext cx="2381190" cy="1714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520"/>
              </a:spcBef>
              <a:spcAft>
                <a:spcPts val="0"/>
              </a:spcAft>
            </a:pPr>
            <a:r>
              <a:rPr sz="837" b="1">
                <a:solidFill>
                  <a:srgbClr val="D4A76A"/>
                </a:solidFill>
                <a:latin typeface="Source Sans Pro"/>
              </a:rPr>
              <a:t>T+6 days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724281" y="8162924"/>
            <a:ext cx="714357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70" b="1">
                <a:solidFill>
                  <a:srgbClr val="D4A76A"/>
                </a:solidFill>
                <a:latin typeface="Source Sans Pro"/>
              </a:rPr>
              <a:t>10x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591035" y="8229600"/>
            <a:ext cx="1904952" cy="44767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Source Sans Pro"/>
              </a:rPr>
              <a:t>Global Revenue Growth Target to IPO Readiness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0" y="9039225"/>
            <a:ext cx="12191695" cy="1714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D4A76A"/>
                </a:solidFill>
                <a:latin typeface="Source Sans Pro"/>
              </a:rPr>
              <a:t>© 2026 Brave Ecom Pvt Ltd. All Rights Reserved.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2121C">
                <a:alpha val="95000"/>
              </a:srgbClr>
            </a:gs>
            <a:gs pos="100000">
              <a:srgbClr val="1A1A26">
                <a:alpha val="90000"/>
              </a:srgbClr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6198" cy="8305799"/>
          </a:xfrm>
          <a:prstGeom prst="rect">
            <a:avLst/>
          </a:prstGeom>
          <a:solidFill>
            <a:srgbClr val="D4A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12191695" cy="8305799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9753356" y="190499"/>
            <a:ext cx="1771605" cy="380999"/>
          </a:xfrm>
          <a:prstGeom prst="roundRect">
            <a:avLst>
              <a:gd name="adj" fmla="val 100000"/>
            </a:avLst>
          </a:prstGeom>
          <a:solidFill>
            <a:srgbClr val="D4A76A">
              <a:alpha val="20000"/>
            </a:srgbClr>
          </a:solidFill>
          <a:ln w="16510">
            <a:solidFill>
              <a:srgbClr val="D4A7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15277" y="299757"/>
            <a:ext cx="190495" cy="16248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181970" y="285750"/>
            <a:ext cx="1181070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Source Sans Pro"/>
              </a:rPr>
              <a:t>Global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6733" y="380999"/>
            <a:ext cx="9972425" cy="4762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392" b="1">
                <a:solidFill>
                  <a:srgbClr val="FFFFFF"/>
                </a:solidFill>
                <a:latin typeface="Source Sans Pro"/>
              </a:rPr>
              <a:t>Built to Grow Fast, Built to Last</a:t>
            </a:r>
          </a:p>
        </p:txBody>
      </p:sp>
      <p:sp>
        <p:nvSpPr>
          <p:cNvPr id="8" name="Rectangle 7"/>
          <p:cNvSpPr/>
          <p:nvPr/>
        </p:nvSpPr>
        <p:spPr>
          <a:xfrm>
            <a:off x="10829654" y="476249"/>
            <a:ext cx="695307" cy="380999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181270" y="1143000"/>
            <a:ext cx="5829154" cy="3809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13" b="1">
                <a:solidFill>
                  <a:srgbClr val="D4A76A"/>
                </a:solidFill>
                <a:latin typeface="Source Sans Pro"/>
              </a:rPr>
              <a:t>Brave Ecom: A Global Investment Vehicle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6258" y="1904999"/>
            <a:ext cx="3486062" cy="1704975"/>
          </a:xfrm>
          <a:prstGeom prst="roundRect">
            <a:avLst>
              <a:gd name="adj" fmla="val 8938"/>
            </a:avLst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 Same Side Corner Rectangle 10"/>
          <p:cNvSpPr/>
          <p:nvPr/>
        </p:nvSpPr>
        <p:spPr>
          <a:xfrm rot="16200000">
            <a:off x="-126699" y="2707956"/>
            <a:ext cx="1704975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4A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66893" y="2222937"/>
            <a:ext cx="342891" cy="18327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62120" y="2628900"/>
            <a:ext cx="542911" cy="4286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50"/>
              </a:spcAft>
            </a:pPr>
            <a:r>
              <a:rPr sz="2152" b="1">
                <a:solidFill>
                  <a:srgbClr val="FFFFFF"/>
                </a:solidFill>
                <a:latin typeface="Source Sans Pro"/>
              </a:rPr>
              <a:t>10x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0635" y="3152775"/>
            <a:ext cx="1685882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49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B0B0C0"/>
                </a:solidFill>
                <a:latin typeface="Source Sans Pro"/>
              </a:rPr>
              <a:t>Global Revenue Growth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52816" y="1904999"/>
            <a:ext cx="3486062" cy="1704975"/>
          </a:xfrm>
          <a:prstGeom prst="roundRect">
            <a:avLst>
              <a:gd name="adj" fmla="val 8938"/>
            </a:avLst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 Same Side Corner Rectangle 15"/>
          <p:cNvSpPr/>
          <p:nvPr/>
        </p:nvSpPr>
        <p:spPr>
          <a:xfrm rot="16200000">
            <a:off x="3549859" y="2707956"/>
            <a:ext cx="1704975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4A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33926" y="2214069"/>
            <a:ext cx="342891" cy="20101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638659" y="2628900"/>
            <a:ext cx="942951" cy="4286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50"/>
              </a:spcAft>
            </a:pPr>
            <a:r>
              <a:rPr sz="2152" b="1">
                <a:solidFill>
                  <a:srgbClr val="FFFFFF"/>
                </a:solidFill>
                <a:latin typeface="Source Sans Pro"/>
              </a:rPr>
              <a:t>22.6%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00539" y="3152775"/>
            <a:ext cx="1419189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49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B0B0C0"/>
                </a:solidFill>
                <a:latin typeface="Source Sans Pro"/>
              </a:rPr>
              <a:t>Global Market CAGR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29374" y="1904999"/>
            <a:ext cx="3486062" cy="1704975"/>
          </a:xfrm>
          <a:prstGeom prst="roundRect">
            <a:avLst>
              <a:gd name="adj" fmla="val 8938"/>
            </a:avLst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 Same Side Corner Rectangle 20"/>
          <p:cNvSpPr/>
          <p:nvPr/>
        </p:nvSpPr>
        <p:spPr>
          <a:xfrm rot="16200000">
            <a:off x="7226417" y="2707956"/>
            <a:ext cx="1704975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4A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610484" y="2222937"/>
            <a:ext cx="342891" cy="18327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324741" y="2628900"/>
            <a:ext cx="923901" cy="4286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50"/>
              </a:spcAft>
            </a:pPr>
            <a:r>
              <a:rPr sz="2152" b="1">
                <a:solidFill>
                  <a:srgbClr val="FFFFFF"/>
                </a:solidFill>
                <a:latin typeface="Source Sans Pro"/>
              </a:rPr>
              <a:t>3-Year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48523" y="3152775"/>
            <a:ext cx="1485862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49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B0B0C0"/>
                </a:solidFill>
                <a:latin typeface="Source Sans Pro"/>
              </a:rPr>
              <a:t>Global IPO Roadmap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76258" y="3800475"/>
            <a:ext cx="3486062" cy="1704975"/>
          </a:xfrm>
          <a:prstGeom prst="roundRect">
            <a:avLst>
              <a:gd name="adj" fmla="val 8938"/>
            </a:avLst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 Same Side Corner Rectangle 25"/>
          <p:cNvSpPr/>
          <p:nvPr/>
        </p:nvSpPr>
        <p:spPr>
          <a:xfrm rot="16200000">
            <a:off x="-126699" y="4603432"/>
            <a:ext cx="1704975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4A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266893" y="4056336"/>
            <a:ext cx="342891" cy="307427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733506" y="4524374"/>
            <a:ext cx="1390615" cy="4286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50"/>
              </a:spcAft>
            </a:pPr>
            <a:r>
              <a:rPr sz="2152" b="1">
                <a:solidFill>
                  <a:srgbClr val="FFFFFF"/>
                </a:solidFill>
                <a:latin typeface="Source Sans Pro"/>
              </a:rPr>
              <a:t>Zero Risk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52556" y="5048250"/>
            <a:ext cx="1352516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49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B0B0C0"/>
                </a:solidFill>
                <a:latin typeface="Source Sans Pro"/>
              </a:rPr>
              <a:t>Global Compliance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52816" y="3800475"/>
            <a:ext cx="3486062" cy="1704975"/>
          </a:xfrm>
          <a:prstGeom prst="roundRect">
            <a:avLst>
              <a:gd name="adj" fmla="val 8938"/>
            </a:avLst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 Same Side Corner Rectangle 30"/>
          <p:cNvSpPr/>
          <p:nvPr/>
        </p:nvSpPr>
        <p:spPr>
          <a:xfrm rot="16200000">
            <a:off x="3549859" y="4603432"/>
            <a:ext cx="1704975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4A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933926" y="4071116"/>
            <a:ext cx="342891" cy="277867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781530" y="4524374"/>
            <a:ext cx="657208" cy="4286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50"/>
              </a:spcAft>
            </a:pPr>
            <a:r>
              <a:rPr sz="2152" b="1">
                <a:solidFill>
                  <a:srgbClr val="FFFFFF"/>
                </a:solidFill>
                <a:latin typeface="Source Sans Pro"/>
              </a:rPr>
              <a:t>40%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91015" y="5048250"/>
            <a:ext cx="1447763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49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B0B0C0"/>
                </a:solidFill>
                <a:latin typeface="Source Sans Pro"/>
              </a:rPr>
              <a:t>Global Iron Treasury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29374" y="3800475"/>
            <a:ext cx="3486062" cy="1704975"/>
          </a:xfrm>
          <a:prstGeom prst="roundRect">
            <a:avLst>
              <a:gd name="adj" fmla="val 8938"/>
            </a:avLst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 Same Side Corner Rectangle 35"/>
          <p:cNvSpPr/>
          <p:nvPr/>
        </p:nvSpPr>
        <p:spPr>
          <a:xfrm rot="16200000">
            <a:off x="7226417" y="4603432"/>
            <a:ext cx="1704975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4A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9610484" y="4088852"/>
            <a:ext cx="342891" cy="242394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8772305" y="4524374"/>
            <a:ext cx="2028774" cy="4286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50"/>
              </a:spcAft>
            </a:pPr>
            <a:r>
              <a:rPr sz="2152" b="1">
                <a:solidFill>
                  <a:srgbClr val="FFFFFF"/>
                </a:solidFill>
                <a:latin typeface="Source Sans Pro"/>
              </a:rPr>
              <a:t>ESOP Aligned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05672" y="5048250"/>
            <a:ext cx="1362040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49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B0B0C0"/>
                </a:solidFill>
                <a:latin typeface="Source Sans Pro"/>
              </a:rPr>
              <a:t>Global People-First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66733" y="5895974"/>
            <a:ext cx="10858228" cy="2028825"/>
          </a:xfrm>
          <a:prstGeom prst="roundRect">
            <a:avLst>
              <a:gd name="adj" fmla="val 7511"/>
            </a:avLst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 Same Side Corner Rectangle 40"/>
          <p:cNvSpPr/>
          <p:nvPr/>
        </p:nvSpPr>
        <p:spPr>
          <a:xfrm rot="16200000">
            <a:off x="-298149" y="6860856"/>
            <a:ext cx="2028825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4A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114597" y="7060882"/>
            <a:ext cx="228594" cy="165734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3438439" y="7029450"/>
            <a:ext cx="1714457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Source Sans Pro"/>
              </a:rPr>
              <a:t>invest@braveecom.com</a:t>
            </a:r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5448163" y="7055167"/>
            <a:ext cx="228594" cy="177164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5772005" y="7029450"/>
            <a:ext cx="1181070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Source Sans Pro"/>
              </a:rPr>
              <a:t>+91 98765 43210</a:t>
            </a:r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7229294" y="7046594"/>
            <a:ext cx="228594" cy="194309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7553136" y="7029450"/>
            <a:ext cx="1552536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Source Sans Pro"/>
              </a:rPr>
              <a:t>www.braveecom.com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81050" y="7448549"/>
            <a:ext cx="10258168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1300"/>
              </a:spcBef>
              <a:spcAft>
                <a:spcPts val="0"/>
              </a:spcAft>
            </a:pPr>
            <a:r>
              <a:rPr sz="956" b="0">
                <a:solidFill>
                  <a:srgbClr val="B0B0C0"/>
                </a:solidFill>
                <a:latin typeface="Source Sans Pro"/>
              </a:rPr>
              <a:t>Brave Ecom Pvt Ltd - A Legally Fortified, Global High-Growth Institution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0" y="7991474"/>
            <a:ext cx="12191695" cy="1714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D4A76A"/>
                </a:solidFill>
                <a:latin typeface="Source Sans Pro"/>
              </a:rPr>
              <a:t>© 2026 Brave Ecom Pvt Ltd. All Rights Reserved.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306</TotalTime>
  <Words>1101</Words>
  <Application>Microsoft Office PowerPoint</Application>
  <PresentationFormat>Widescreen</PresentationFormat>
  <Paragraphs>252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Source Sans Pro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Sanjay Patil</cp:lastModifiedBy>
  <cp:revision>4</cp:revision>
  <dcterms:created xsi:type="dcterms:W3CDTF">2013-01-27T09:14:16Z</dcterms:created>
  <dcterms:modified xsi:type="dcterms:W3CDTF">2026-02-04T08:10:40Z</dcterms:modified>
  <cp:category/>
</cp:coreProperties>
</file>